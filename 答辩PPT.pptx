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2" r:id="rId6"/>
    <p:sldId id="263" r:id="rId7"/>
    <p:sldId id="296" r:id="rId8"/>
    <p:sldId id="297" r:id="rId9"/>
    <p:sldId id="300" r:id="rId10"/>
    <p:sldId id="268" r:id="rId11"/>
    <p:sldId id="264" r:id="rId12"/>
    <p:sldId id="274" r:id="rId13"/>
    <p:sldId id="273" r:id="rId14"/>
    <p:sldId id="269" r:id="rId15"/>
    <p:sldId id="279" r:id="rId16"/>
    <p:sldId id="281" r:id="rId17"/>
    <p:sldId id="348" r:id="rId18"/>
    <p:sldId id="349" r:id="rId19"/>
    <p:sldId id="350" r:id="rId20"/>
    <p:sldId id="287" r:id="rId21"/>
    <p:sldId id="344" r:id="rId22"/>
    <p:sldId id="275" r:id="rId23"/>
    <p:sldId id="282"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43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987" autoAdjust="0"/>
    <p:restoredTop sz="94660"/>
  </p:normalViewPr>
  <p:slideViewPr>
    <p:cSldViewPr snapToGrid="0" showGuides="1">
      <p:cViewPr>
        <p:scale>
          <a:sx n="85" d="100"/>
          <a:sy n="85" d="100"/>
        </p:scale>
        <p:origin x="-876" y="-630"/>
      </p:cViewPr>
      <p:guideLst>
        <p:guide orient="horz" pos="2090"/>
        <p:guide pos="3840"/>
      </p:guideLst>
    </p:cSldViewPr>
  </p:slideViewPr>
  <p:notesTextViewPr>
    <p:cViewPr>
      <p:scale>
        <a:sx n="1" d="1"/>
        <a:sy n="1" d="1"/>
      </p:scale>
      <p:origin x="0" y="0"/>
    </p:cViewPr>
  </p:notesTextViewPr>
  <p:sorterViewPr>
    <p:cViewPr>
      <p:scale>
        <a:sx n="100" d="100"/>
        <a:sy n="100" d="100"/>
      </p:scale>
      <p:origin x="0" y="685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5.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AE52B16-9801-4BC7-896E-376223D490C3}" type="doc">
      <dgm:prSet loTypeId="urn:microsoft.com/office/officeart/2005/8/layout/pyramid2" loCatId="list" qsTypeId="urn:microsoft.com/office/officeart/2005/8/quickstyle/simple1" qsCatId="simple" csTypeId="urn:microsoft.com/office/officeart/2005/8/colors/accent1_2" csCatId="accent1" phldr="1"/>
      <dgm:spPr/>
    </dgm:pt>
    <dgm:pt modelId="{EC427987-15C6-4312-8E4F-7E4C343397BF}">
      <dgm:prSet phldrT="[文本]"/>
      <dgm:spPr/>
      <dgm:t>
        <a:bodyPr/>
        <a:lstStyle/>
        <a:p>
          <a:r>
            <a:rPr lang="zh-CN" altLang="en-US" dirty="0" smtClean="0"/>
            <a:t>成本低</a:t>
          </a:r>
          <a:endParaRPr lang="zh-CN" altLang="en-US" dirty="0"/>
        </a:p>
      </dgm:t>
    </dgm:pt>
    <dgm:pt modelId="{0C1113A4-28EF-48DA-A709-90961333A813}" cxnId="{88056D99-DC67-4EEB-8718-4B30E0D39D16}" type="parTrans">
      <dgm:prSet/>
      <dgm:spPr/>
      <dgm:t>
        <a:bodyPr/>
        <a:lstStyle/>
        <a:p>
          <a:endParaRPr lang="zh-CN" altLang="en-US"/>
        </a:p>
      </dgm:t>
    </dgm:pt>
    <dgm:pt modelId="{ED84682E-D801-42AA-853A-1E1E0A5BEFD0}" cxnId="{88056D99-DC67-4EEB-8718-4B30E0D39D16}" type="sibTrans">
      <dgm:prSet/>
      <dgm:spPr/>
      <dgm:t>
        <a:bodyPr/>
        <a:lstStyle/>
        <a:p>
          <a:endParaRPr lang="zh-CN" altLang="en-US"/>
        </a:p>
      </dgm:t>
    </dgm:pt>
    <dgm:pt modelId="{71CBCEF8-F200-4DA9-9DA7-DF8926E92CDF}">
      <dgm:prSet phldrT="[文本]"/>
      <dgm:spPr/>
      <dgm:t>
        <a:bodyPr/>
        <a:lstStyle/>
        <a:p>
          <a:r>
            <a:rPr lang="zh-CN" altLang="en-US" dirty="0" smtClean="0"/>
            <a:t>易开发</a:t>
          </a:r>
          <a:endParaRPr lang="zh-CN" altLang="en-US" dirty="0"/>
        </a:p>
      </dgm:t>
    </dgm:pt>
    <dgm:pt modelId="{33DD09FC-0D86-45FC-AA6C-0075A6AB74FD}" cxnId="{8961F2B1-1E53-4417-9722-5AA030C81851}" type="parTrans">
      <dgm:prSet/>
      <dgm:spPr/>
      <dgm:t>
        <a:bodyPr/>
        <a:lstStyle/>
        <a:p>
          <a:endParaRPr lang="zh-CN" altLang="en-US"/>
        </a:p>
      </dgm:t>
    </dgm:pt>
    <dgm:pt modelId="{7BDCA8F4-8229-497B-8773-92AFBEA46B13}" cxnId="{8961F2B1-1E53-4417-9722-5AA030C81851}" type="sibTrans">
      <dgm:prSet/>
      <dgm:spPr/>
      <dgm:t>
        <a:bodyPr/>
        <a:lstStyle/>
        <a:p>
          <a:endParaRPr lang="zh-CN" altLang="en-US"/>
        </a:p>
      </dgm:t>
    </dgm:pt>
    <dgm:pt modelId="{3BCE4A8F-9645-40EE-8DAC-C58B32BDC42D}">
      <dgm:prSet phldrT="[文本]"/>
      <dgm:spPr/>
      <dgm:t>
        <a:bodyPr/>
        <a:lstStyle/>
        <a:p>
          <a:r>
            <a:rPr lang="zh-CN" altLang="en-US" dirty="0" smtClean="0"/>
            <a:t>安全性高</a:t>
          </a:r>
          <a:endParaRPr lang="zh-CN" altLang="en-US" dirty="0"/>
        </a:p>
      </dgm:t>
    </dgm:pt>
    <dgm:pt modelId="{9CA38F13-4EB5-434D-9C2C-84C5552BEE63}" cxnId="{80DA1036-9230-4331-8DAB-372E50CE1486}" type="parTrans">
      <dgm:prSet/>
      <dgm:spPr/>
      <dgm:t>
        <a:bodyPr/>
        <a:lstStyle/>
        <a:p>
          <a:endParaRPr lang="zh-CN" altLang="en-US"/>
        </a:p>
      </dgm:t>
    </dgm:pt>
    <dgm:pt modelId="{BC21BE1C-14A0-43A8-8CCF-EC02679C21FE}" cxnId="{80DA1036-9230-4331-8DAB-372E50CE1486}" type="sibTrans">
      <dgm:prSet/>
      <dgm:spPr/>
      <dgm:t>
        <a:bodyPr/>
        <a:lstStyle/>
        <a:p>
          <a:endParaRPr lang="zh-CN" altLang="en-US"/>
        </a:p>
      </dgm:t>
    </dgm:pt>
    <dgm:pt modelId="{64705A8F-55EC-4F64-9F90-8350B61BBAC6}">
      <dgm:prSet/>
      <dgm:spPr/>
      <dgm:t>
        <a:bodyPr/>
        <a:lstStyle/>
        <a:p>
          <a:r>
            <a:rPr lang="zh-CN" altLang="en-US" smtClean="0"/>
            <a:t>体积小</a:t>
          </a:r>
          <a:endParaRPr lang="zh-CN" altLang="en-US"/>
        </a:p>
      </dgm:t>
    </dgm:pt>
    <dgm:pt modelId="{91C225A1-D4AE-48D0-830E-AC74916D9B7C}" cxnId="{C19456C3-DF97-4DBE-BB68-A1A3D501B46C}" type="parTrans">
      <dgm:prSet/>
      <dgm:spPr/>
      <dgm:t>
        <a:bodyPr/>
        <a:lstStyle/>
        <a:p>
          <a:endParaRPr lang="zh-CN" altLang="en-US"/>
        </a:p>
      </dgm:t>
    </dgm:pt>
    <dgm:pt modelId="{AD280284-3224-4292-931F-5EE228F33644}" cxnId="{C19456C3-DF97-4DBE-BB68-A1A3D501B46C}" type="sibTrans">
      <dgm:prSet/>
      <dgm:spPr/>
      <dgm:t>
        <a:bodyPr/>
        <a:lstStyle/>
        <a:p>
          <a:endParaRPr lang="zh-CN" altLang="en-US"/>
        </a:p>
      </dgm:t>
    </dgm:pt>
    <dgm:pt modelId="{8E4B3623-4658-4331-9392-CABBD4D0CAD1}">
      <dgm:prSet/>
      <dgm:spPr/>
      <dgm:t>
        <a:bodyPr/>
        <a:lstStyle/>
        <a:p>
          <a:r>
            <a:rPr lang="zh-CN" altLang="en-US" dirty="0" smtClean="0"/>
            <a:t>兼容性好</a:t>
          </a:r>
          <a:endParaRPr lang="zh-CN" altLang="en-US" dirty="0"/>
        </a:p>
      </dgm:t>
    </dgm:pt>
    <dgm:pt modelId="{01AAF3B0-B983-4DB0-B30C-08193A910862}" cxnId="{F070D45D-0B80-40BB-A49D-1D9BD5C336D3}" type="parTrans">
      <dgm:prSet/>
      <dgm:spPr/>
      <dgm:t>
        <a:bodyPr/>
        <a:lstStyle/>
        <a:p>
          <a:endParaRPr lang="zh-CN" altLang="en-US"/>
        </a:p>
      </dgm:t>
    </dgm:pt>
    <dgm:pt modelId="{26EAAC0D-8253-40D2-8C1B-7420B1B7BBAD}" cxnId="{F070D45D-0B80-40BB-A49D-1D9BD5C336D3}" type="sibTrans">
      <dgm:prSet/>
      <dgm:spPr/>
      <dgm:t>
        <a:bodyPr/>
        <a:lstStyle/>
        <a:p>
          <a:endParaRPr lang="zh-CN" altLang="en-US"/>
        </a:p>
      </dgm:t>
    </dgm:pt>
    <dgm:pt modelId="{7A3FBB08-B282-402A-91F5-E5B6EF899592}" type="pres">
      <dgm:prSet presAssocID="{8AE52B16-9801-4BC7-896E-376223D490C3}" presName="compositeShape" presStyleCnt="0">
        <dgm:presLayoutVars>
          <dgm:dir/>
          <dgm:resizeHandles/>
        </dgm:presLayoutVars>
      </dgm:prSet>
      <dgm:spPr/>
    </dgm:pt>
    <dgm:pt modelId="{F2EC5970-DE1C-4569-9863-7C8E5BD9DFF7}" type="pres">
      <dgm:prSet presAssocID="{8AE52B16-9801-4BC7-896E-376223D490C3}" presName="pyramid" presStyleLbl="node1" presStyleIdx="0" presStyleCnt="1" custLinFactNeighborX="-5175" custLinFactNeighborY="1799"/>
      <dgm:spPr/>
    </dgm:pt>
    <dgm:pt modelId="{4B65ECF4-7A1A-482B-97F1-4B1BC91D8D2F}" type="pres">
      <dgm:prSet presAssocID="{8AE52B16-9801-4BC7-896E-376223D490C3}" presName="theList" presStyleCnt="0"/>
      <dgm:spPr/>
    </dgm:pt>
    <dgm:pt modelId="{16F3D1D0-83E4-41BB-B534-6AFE31F44BAB}" type="pres">
      <dgm:prSet presAssocID="{EC427987-15C6-4312-8E4F-7E4C343397BF}" presName="aNode" presStyleLbl="fgAcc1" presStyleIdx="0" presStyleCnt="5">
        <dgm:presLayoutVars>
          <dgm:bulletEnabled val="1"/>
        </dgm:presLayoutVars>
      </dgm:prSet>
      <dgm:spPr/>
      <dgm:t>
        <a:bodyPr/>
        <a:lstStyle/>
        <a:p>
          <a:endParaRPr lang="zh-CN" altLang="en-US"/>
        </a:p>
      </dgm:t>
    </dgm:pt>
    <dgm:pt modelId="{6E4E98E0-E7CC-4363-8EF1-061827ED6AAA}" type="pres">
      <dgm:prSet presAssocID="{EC427987-15C6-4312-8E4F-7E4C343397BF}" presName="aSpace" presStyleCnt="0"/>
      <dgm:spPr/>
    </dgm:pt>
    <dgm:pt modelId="{1240EC9D-4739-456C-9FE4-F21FC9F735C1}" type="pres">
      <dgm:prSet presAssocID="{71CBCEF8-F200-4DA9-9DA7-DF8926E92CDF}" presName="aNode" presStyleLbl="fgAcc1" presStyleIdx="1" presStyleCnt="5">
        <dgm:presLayoutVars>
          <dgm:bulletEnabled val="1"/>
        </dgm:presLayoutVars>
      </dgm:prSet>
      <dgm:spPr/>
      <dgm:t>
        <a:bodyPr/>
        <a:lstStyle/>
        <a:p>
          <a:endParaRPr lang="zh-CN" altLang="en-US"/>
        </a:p>
      </dgm:t>
    </dgm:pt>
    <dgm:pt modelId="{774366DD-5F4B-4A54-9F72-D8E3B4BE168B}" type="pres">
      <dgm:prSet presAssocID="{71CBCEF8-F200-4DA9-9DA7-DF8926E92CDF}" presName="aSpace" presStyleCnt="0"/>
      <dgm:spPr/>
    </dgm:pt>
    <dgm:pt modelId="{262267BF-E92A-4639-95F8-5D1A892CC4C9}" type="pres">
      <dgm:prSet presAssocID="{3BCE4A8F-9645-40EE-8DAC-C58B32BDC42D}" presName="aNode" presStyleLbl="fgAcc1" presStyleIdx="2" presStyleCnt="5">
        <dgm:presLayoutVars>
          <dgm:bulletEnabled val="1"/>
        </dgm:presLayoutVars>
      </dgm:prSet>
      <dgm:spPr/>
      <dgm:t>
        <a:bodyPr/>
        <a:lstStyle/>
        <a:p>
          <a:endParaRPr lang="zh-CN" altLang="en-US"/>
        </a:p>
      </dgm:t>
    </dgm:pt>
    <dgm:pt modelId="{87314054-5E17-4F5A-BF3D-017535D4CF4D}" type="pres">
      <dgm:prSet presAssocID="{3BCE4A8F-9645-40EE-8DAC-C58B32BDC42D}" presName="aSpace" presStyleCnt="0"/>
      <dgm:spPr/>
    </dgm:pt>
    <dgm:pt modelId="{19B25D5D-DF45-4115-9569-F854210FB60E}" type="pres">
      <dgm:prSet presAssocID="{64705A8F-55EC-4F64-9F90-8350B61BBAC6}" presName="aNode" presStyleLbl="fgAcc1" presStyleIdx="3" presStyleCnt="5">
        <dgm:presLayoutVars>
          <dgm:bulletEnabled val="1"/>
        </dgm:presLayoutVars>
      </dgm:prSet>
      <dgm:spPr/>
      <dgm:t>
        <a:bodyPr/>
        <a:lstStyle/>
        <a:p>
          <a:endParaRPr lang="zh-CN" altLang="en-US"/>
        </a:p>
      </dgm:t>
    </dgm:pt>
    <dgm:pt modelId="{7059939E-AC7B-4D10-B263-826A3300B374}" type="pres">
      <dgm:prSet presAssocID="{64705A8F-55EC-4F64-9F90-8350B61BBAC6}" presName="aSpace" presStyleCnt="0"/>
      <dgm:spPr/>
    </dgm:pt>
    <dgm:pt modelId="{95D46730-A5D8-475C-840D-6A78224C01B2}" type="pres">
      <dgm:prSet presAssocID="{8E4B3623-4658-4331-9392-CABBD4D0CAD1}" presName="aNode" presStyleLbl="fgAcc1" presStyleIdx="4" presStyleCnt="5">
        <dgm:presLayoutVars>
          <dgm:bulletEnabled val="1"/>
        </dgm:presLayoutVars>
      </dgm:prSet>
      <dgm:spPr/>
      <dgm:t>
        <a:bodyPr/>
        <a:lstStyle/>
        <a:p>
          <a:endParaRPr lang="zh-CN" altLang="en-US"/>
        </a:p>
      </dgm:t>
    </dgm:pt>
    <dgm:pt modelId="{E68D3AA6-0FFE-4B78-9459-7574CCB9CBB2}" type="pres">
      <dgm:prSet presAssocID="{8E4B3623-4658-4331-9392-CABBD4D0CAD1}" presName="aSpace" presStyleCnt="0"/>
      <dgm:spPr/>
    </dgm:pt>
  </dgm:ptLst>
  <dgm:cxnLst>
    <dgm:cxn modelId="{80DA1036-9230-4331-8DAB-372E50CE1486}" srcId="{8AE52B16-9801-4BC7-896E-376223D490C3}" destId="{3BCE4A8F-9645-40EE-8DAC-C58B32BDC42D}" srcOrd="2" destOrd="0" parTransId="{9CA38F13-4EB5-434D-9C2C-84C5552BEE63}" sibTransId="{BC21BE1C-14A0-43A8-8CCF-EC02679C21FE}"/>
    <dgm:cxn modelId="{8961F2B1-1E53-4417-9722-5AA030C81851}" srcId="{8AE52B16-9801-4BC7-896E-376223D490C3}" destId="{71CBCEF8-F200-4DA9-9DA7-DF8926E92CDF}" srcOrd="1" destOrd="0" parTransId="{33DD09FC-0D86-45FC-AA6C-0075A6AB74FD}" sibTransId="{7BDCA8F4-8229-497B-8773-92AFBEA46B13}"/>
    <dgm:cxn modelId="{07D168F2-0BF4-40CC-903B-FD946DE0AA45}" type="presOf" srcId="{3BCE4A8F-9645-40EE-8DAC-C58B32BDC42D}" destId="{262267BF-E92A-4639-95F8-5D1A892CC4C9}" srcOrd="0" destOrd="0" presId="urn:microsoft.com/office/officeart/2005/8/layout/pyramid2"/>
    <dgm:cxn modelId="{6D30CF66-DA5F-45F2-AE3E-87C01449ECBE}" type="presOf" srcId="{64705A8F-55EC-4F64-9F90-8350B61BBAC6}" destId="{19B25D5D-DF45-4115-9569-F854210FB60E}" srcOrd="0" destOrd="0" presId="urn:microsoft.com/office/officeart/2005/8/layout/pyramid2"/>
    <dgm:cxn modelId="{C19456C3-DF97-4DBE-BB68-A1A3D501B46C}" srcId="{8AE52B16-9801-4BC7-896E-376223D490C3}" destId="{64705A8F-55EC-4F64-9F90-8350B61BBAC6}" srcOrd="3" destOrd="0" parTransId="{91C225A1-D4AE-48D0-830E-AC74916D9B7C}" sibTransId="{AD280284-3224-4292-931F-5EE228F33644}"/>
    <dgm:cxn modelId="{F070D45D-0B80-40BB-A49D-1D9BD5C336D3}" srcId="{8AE52B16-9801-4BC7-896E-376223D490C3}" destId="{8E4B3623-4658-4331-9392-CABBD4D0CAD1}" srcOrd="4" destOrd="0" parTransId="{01AAF3B0-B983-4DB0-B30C-08193A910862}" sibTransId="{26EAAC0D-8253-40D2-8C1B-7420B1B7BBAD}"/>
    <dgm:cxn modelId="{78A59693-42D3-41EC-84F1-A48DEBE8EC61}" type="presOf" srcId="{8AE52B16-9801-4BC7-896E-376223D490C3}" destId="{7A3FBB08-B282-402A-91F5-E5B6EF899592}" srcOrd="0" destOrd="0" presId="urn:microsoft.com/office/officeart/2005/8/layout/pyramid2"/>
    <dgm:cxn modelId="{88056D99-DC67-4EEB-8718-4B30E0D39D16}" srcId="{8AE52B16-9801-4BC7-896E-376223D490C3}" destId="{EC427987-15C6-4312-8E4F-7E4C343397BF}" srcOrd="0" destOrd="0" parTransId="{0C1113A4-28EF-48DA-A709-90961333A813}" sibTransId="{ED84682E-D801-42AA-853A-1E1E0A5BEFD0}"/>
    <dgm:cxn modelId="{428B06B6-7350-488C-9516-3F41EBB57F2F}" type="presOf" srcId="{EC427987-15C6-4312-8E4F-7E4C343397BF}" destId="{16F3D1D0-83E4-41BB-B534-6AFE31F44BAB}" srcOrd="0" destOrd="0" presId="urn:microsoft.com/office/officeart/2005/8/layout/pyramid2"/>
    <dgm:cxn modelId="{1A212509-023E-430C-960B-70FAE0BE3AF2}" type="presOf" srcId="{8E4B3623-4658-4331-9392-CABBD4D0CAD1}" destId="{95D46730-A5D8-475C-840D-6A78224C01B2}" srcOrd="0" destOrd="0" presId="urn:microsoft.com/office/officeart/2005/8/layout/pyramid2"/>
    <dgm:cxn modelId="{1D84994B-478A-4A1B-919A-9B5D3FFF6352}" type="presOf" srcId="{71CBCEF8-F200-4DA9-9DA7-DF8926E92CDF}" destId="{1240EC9D-4739-456C-9FE4-F21FC9F735C1}" srcOrd="0" destOrd="0" presId="urn:microsoft.com/office/officeart/2005/8/layout/pyramid2"/>
    <dgm:cxn modelId="{B561EB68-C9D2-4EE5-AF42-5246F82137AB}" type="presParOf" srcId="{7A3FBB08-B282-402A-91F5-E5B6EF899592}" destId="{F2EC5970-DE1C-4569-9863-7C8E5BD9DFF7}" srcOrd="0" destOrd="0" presId="urn:microsoft.com/office/officeart/2005/8/layout/pyramid2"/>
    <dgm:cxn modelId="{4674BD65-5B85-4CEA-92A9-A80238E999BE}" type="presParOf" srcId="{7A3FBB08-B282-402A-91F5-E5B6EF899592}" destId="{4B65ECF4-7A1A-482B-97F1-4B1BC91D8D2F}" srcOrd="1" destOrd="0" presId="urn:microsoft.com/office/officeart/2005/8/layout/pyramid2"/>
    <dgm:cxn modelId="{8CA2A084-CD7E-4F82-B518-34869B507A07}" type="presParOf" srcId="{4B65ECF4-7A1A-482B-97F1-4B1BC91D8D2F}" destId="{16F3D1D0-83E4-41BB-B534-6AFE31F44BAB}" srcOrd="0" destOrd="0" presId="urn:microsoft.com/office/officeart/2005/8/layout/pyramid2"/>
    <dgm:cxn modelId="{356E3FF1-59D1-448F-91EC-096172640077}" type="presParOf" srcId="{4B65ECF4-7A1A-482B-97F1-4B1BC91D8D2F}" destId="{6E4E98E0-E7CC-4363-8EF1-061827ED6AAA}" srcOrd="1" destOrd="0" presId="urn:microsoft.com/office/officeart/2005/8/layout/pyramid2"/>
    <dgm:cxn modelId="{D4B6A77F-B9EA-417F-AB5E-4B4141580A16}" type="presParOf" srcId="{4B65ECF4-7A1A-482B-97F1-4B1BC91D8D2F}" destId="{1240EC9D-4739-456C-9FE4-F21FC9F735C1}" srcOrd="2" destOrd="0" presId="urn:microsoft.com/office/officeart/2005/8/layout/pyramid2"/>
    <dgm:cxn modelId="{5532167C-207E-4E10-9689-5D40F50B9894}" type="presParOf" srcId="{4B65ECF4-7A1A-482B-97F1-4B1BC91D8D2F}" destId="{774366DD-5F4B-4A54-9F72-D8E3B4BE168B}" srcOrd="3" destOrd="0" presId="urn:microsoft.com/office/officeart/2005/8/layout/pyramid2"/>
    <dgm:cxn modelId="{FD49745A-33E8-4DF1-BFE5-BD909C7A64DF}" type="presParOf" srcId="{4B65ECF4-7A1A-482B-97F1-4B1BC91D8D2F}" destId="{262267BF-E92A-4639-95F8-5D1A892CC4C9}" srcOrd="4" destOrd="0" presId="urn:microsoft.com/office/officeart/2005/8/layout/pyramid2"/>
    <dgm:cxn modelId="{A3C6694D-0B05-4B17-9021-4BEFE29C89C9}" type="presParOf" srcId="{4B65ECF4-7A1A-482B-97F1-4B1BC91D8D2F}" destId="{87314054-5E17-4F5A-BF3D-017535D4CF4D}" srcOrd="5" destOrd="0" presId="urn:microsoft.com/office/officeart/2005/8/layout/pyramid2"/>
    <dgm:cxn modelId="{1D1FF150-430E-4575-B55F-0ECF60A6ABE4}" type="presParOf" srcId="{4B65ECF4-7A1A-482B-97F1-4B1BC91D8D2F}" destId="{19B25D5D-DF45-4115-9569-F854210FB60E}" srcOrd="6" destOrd="0" presId="urn:microsoft.com/office/officeart/2005/8/layout/pyramid2"/>
    <dgm:cxn modelId="{5B6E0A93-5155-4425-87A9-87972C940B6D}" type="presParOf" srcId="{4B65ECF4-7A1A-482B-97F1-4B1BC91D8D2F}" destId="{7059939E-AC7B-4D10-B263-826A3300B374}" srcOrd="7" destOrd="0" presId="urn:microsoft.com/office/officeart/2005/8/layout/pyramid2"/>
    <dgm:cxn modelId="{62634471-5D54-432A-9AA7-B4BA97B572CF}" type="presParOf" srcId="{4B65ECF4-7A1A-482B-97F1-4B1BC91D8D2F}" destId="{95D46730-A5D8-475C-840D-6A78224C01B2}" srcOrd="8" destOrd="0" presId="urn:microsoft.com/office/officeart/2005/8/layout/pyramid2"/>
    <dgm:cxn modelId="{8A89B87B-5ADB-49EB-B2DC-A851EFBBBC7A}" type="presParOf" srcId="{4B65ECF4-7A1A-482B-97F1-4B1BC91D8D2F}" destId="{E68D3AA6-0FFE-4B78-9459-7574CCB9CBB2}"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4672D7-6EC7-4B6E-B2A5-E4321C2E08A2}" type="doc">
      <dgm:prSet loTypeId="urn:microsoft.com/office/officeart/2005/8/layout/chevron1" loCatId="process" qsTypeId="urn:microsoft.com/office/officeart/2005/8/quickstyle/simple1" qsCatId="simple" csTypeId="urn:microsoft.com/office/officeart/2005/8/colors/accent1_2" csCatId="accent1" phldr="1"/>
      <dgm:spPr/>
    </dgm:pt>
    <dgm:pt modelId="{66C71723-07AC-4DEC-8CC1-08967F08193A}" type="pres">
      <dgm:prSet presAssocID="{024672D7-6EC7-4B6E-B2A5-E4321C2E08A2}" presName="Name0" presStyleCnt="0">
        <dgm:presLayoutVars>
          <dgm:dir/>
          <dgm:animLvl val="lvl"/>
          <dgm:resizeHandles val="exact"/>
        </dgm:presLayoutVars>
      </dgm:prSet>
      <dgm:spPr/>
    </dgm:pt>
  </dgm:ptLst>
  <dgm:cxnLst>
    <dgm:cxn modelId="{0F385EDE-F2ED-4E18-9053-F7D0D283FED4}" type="presOf" srcId="{024672D7-6EC7-4B6E-B2A5-E4321C2E08A2}" destId="{66C71723-07AC-4DEC-8CC1-08967F08193A}" srcOrd="0"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5418667"/>
        <a:chOff x="0" y="0"/>
        <a:chExt cx="8128000" cy="5418667"/>
      </a:xfrm>
    </dsp:grpSpPr>
    <dsp:sp modelId="{F2EC5970-DE1C-4569-9863-7C8E5BD9DFF7}">
      <dsp:nvSpPr>
        <dsp:cNvPr id="3" name="等腰三角形 2"/>
        <dsp:cNvSpPr/>
      </dsp:nvSpPr>
      <dsp:spPr bwMode="white">
        <a:xfrm>
          <a:off x="667850" y="0"/>
          <a:ext cx="5418667" cy="5418667"/>
        </a:xfrm>
        <a:prstGeom prst="triangle">
          <a:avLst/>
        </a:prstGeom>
      </dsp:spPr>
      <dsp:style>
        <a:lnRef idx="2">
          <a:schemeClr val="lt1"/>
        </a:lnRef>
        <a:fillRef idx="1">
          <a:schemeClr val="accent1"/>
        </a:fillRef>
        <a:effectRef idx="0">
          <a:scrgbClr r="0" g="0" b="0"/>
        </a:effectRef>
        <a:fontRef idx="minor">
          <a:schemeClr val="lt1"/>
        </a:fontRef>
      </dsp:style>
      <dsp:txXfrm>
        <a:off x="667850" y="0"/>
        <a:ext cx="5418667" cy="5418667"/>
      </dsp:txXfrm>
    </dsp:sp>
    <dsp:sp modelId="{16F3D1D0-83E4-41BB-B534-6AFE31F44BAB}">
      <dsp:nvSpPr>
        <dsp:cNvPr id="4" name="圆角矩形 3"/>
        <dsp:cNvSpPr/>
      </dsp:nvSpPr>
      <dsp:spPr bwMode="white">
        <a:xfrm>
          <a:off x="3657600" y="541867"/>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成本低</a:t>
          </a:r>
          <a:endParaRPr lang="zh-CN" altLang="en-US" dirty="0">
            <a:solidFill>
              <a:schemeClr val="dk1"/>
            </a:solidFill>
          </a:endParaRPr>
        </a:p>
      </dsp:txBody>
      <dsp:txXfrm>
        <a:off x="3657600" y="541867"/>
        <a:ext cx="3522134" cy="770655"/>
      </dsp:txXfrm>
    </dsp:sp>
    <dsp:sp modelId="{1240EC9D-4739-456C-9FE4-F21FC9F735C1}">
      <dsp:nvSpPr>
        <dsp:cNvPr id="5" name="圆角矩形 4"/>
        <dsp:cNvSpPr/>
      </dsp:nvSpPr>
      <dsp:spPr bwMode="white">
        <a:xfrm>
          <a:off x="3657600" y="1408853"/>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易开发</a:t>
          </a:r>
          <a:endParaRPr lang="zh-CN" altLang="en-US" dirty="0">
            <a:solidFill>
              <a:schemeClr val="dk1"/>
            </a:solidFill>
          </a:endParaRPr>
        </a:p>
      </dsp:txBody>
      <dsp:txXfrm>
        <a:off x="3657600" y="1408853"/>
        <a:ext cx="3522134" cy="770655"/>
      </dsp:txXfrm>
    </dsp:sp>
    <dsp:sp modelId="{262267BF-E92A-4639-95F8-5D1A892CC4C9}">
      <dsp:nvSpPr>
        <dsp:cNvPr id="6" name="圆角矩形 5"/>
        <dsp:cNvSpPr/>
      </dsp:nvSpPr>
      <dsp:spPr bwMode="white">
        <a:xfrm>
          <a:off x="3657600" y="2275840"/>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安全性高</a:t>
          </a:r>
          <a:endParaRPr lang="zh-CN" altLang="en-US" dirty="0">
            <a:solidFill>
              <a:schemeClr val="dk1"/>
            </a:solidFill>
          </a:endParaRPr>
        </a:p>
      </dsp:txBody>
      <dsp:txXfrm>
        <a:off x="3657600" y="2275840"/>
        <a:ext cx="3522134" cy="770655"/>
      </dsp:txXfrm>
    </dsp:sp>
    <dsp:sp modelId="{19B25D5D-DF45-4115-9569-F854210FB60E}">
      <dsp:nvSpPr>
        <dsp:cNvPr id="7" name="圆角矩形 6"/>
        <dsp:cNvSpPr/>
      </dsp:nvSpPr>
      <dsp:spPr bwMode="white">
        <a:xfrm>
          <a:off x="3657600" y="3142827"/>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smtClean="0">
              <a:solidFill>
                <a:schemeClr val="dk1"/>
              </a:solidFill>
            </a:rPr>
            <a:t>体积小</a:t>
          </a:r>
          <a:endParaRPr lang="zh-CN" altLang="en-US">
            <a:solidFill>
              <a:schemeClr val="dk1"/>
            </a:solidFill>
          </a:endParaRPr>
        </a:p>
      </dsp:txBody>
      <dsp:txXfrm>
        <a:off x="3657600" y="3142827"/>
        <a:ext cx="3522134" cy="770655"/>
      </dsp:txXfrm>
    </dsp:sp>
    <dsp:sp modelId="{95D46730-A5D8-475C-840D-6A78224C01B2}">
      <dsp:nvSpPr>
        <dsp:cNvPr id="8" name="圆角矩形 7"/>
        <dsp:cNvSpPr/>
      </dsp:nvSpPr>
      <dsp:spPr bwMode="white">
        <a:xfrm>
          <a:off x="3657600" y="4009814"/>
          <a:ext cx="3522134" cy="770655"/>
        </a:xfrm>
        <a:prstGeom prst="roundRect">
          <a:avLst/>
        </a:prstGeom>
      </dsp:spPr>
      <dsp:style>
        <a:lnRef idx="2">
          <a:schemeClr val="accent1"/>
        </a:lnRef>
        <a:fillRef idx="1">
          <a:schemeClr val="lt1">
            <a:alpha val="90000"/>
          </a:schemeClr>
        </a:fillRef>
        <a:effectRef idx="0">
          <a:scrgbClr r="0" g="0" b="0"/>
        </a:effectRef>
        <a:fontRef idx="minor"/>
      </dsp:style>
      <dsp:txBody>
        <a:bodyPr lIns="114300" tIns="114300" rIns="114300" bIns="11430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solidFill>
                <a:schemeClr val="dk1"/>
              </a:solidFill>
            </a:rPr>
            <a:t>兼容性好</a:t>
          </a:r>
          <a:endParaRPr lang="zh-CN" altLang="en-US" dirty="0">
            <a:solidFill>
              <a:schemeClr val="dk1"/>
            </a:solidFill>
          </a:endParaRPr>
        </a:p>
      </dsp:txBody>
      <dsp:txXfrm>
        <a:off x="3657600" y="4009814"/>
        <a:ext cx="3522134" cy="770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98880" cy="3035808"/>
        <a:chOff x="0" y="0"/>
        <a:chExt cx="1198880" cy="3035808"/>
      </a:xfrm>
    </dsp:grpSpPr>
    <dsp:sp modelId="{F889D49B-31A4-4239-B313-E14E2FE6EB69}">
      <dsp:nvSpPr>
        <dsp:cNvPr id="3" name="燕尾形 2"/>
        <dsp:cNvSpPr/>
      </dsp:nvSpPr>
      <dsp:spPr bwMode="white">
        <a:xfrm>
          <a:off x="0" y="1950719"/>
          <a:ext cx="1198880" cy="479552"/>
        </a:xfrm>
        <a:prstGeom prst="chevron">
          <a:avLst/>
        </a:prstGeom>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US" altLang="zh-CN" dirty="0" smtClean="0"/>
            <a:t> </a:t>
          </a:r>
          <a:endParaRPr lang="zh-CN" altLang="en-US" dirty="0"/>
        </a:p>
      </dsp:txBody>
      <dsp:txXfrm>
        <a:off x="0" y="1950719"/>
        <a:ext cx="1198880" cy="479552"/>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B4AB03-2860-45B8-A0D7-FC995FC3A8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39F219-1042-48FF-8657-2E904DD7C5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CB7059-5012-4BE8-B9AC-16C559751B5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tags" Target="../tags/tag4.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388870" y="-1884680"/>
            <a:ext cx="16970375" cy="4368165"/>
          </a:xfrm>
          <a:prstGeom prst="ellipse">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TextBox 7"/>
          <p:cNvSpPr txBox="1"/>
          <p:nvPr/>
        </p:nvSpPr>
        <p:spPr>
          <a:xfrm>
            <a:off x="3561715" y="3575685"/>
            <a:ext cx="5693410" cy="967740"/>
          </a:xfrm>
          <a:prstGeom prst="rect">
            <a:avLst/>
          </a:prstGeom>
          <a:noFill/>
        </p:spPr>
        <p:txBody>
          <a:bodyPr wrap="none" rtlCol="0">
            <a:noAutofit/>
          </a:bodyPr>
          <a:lstStyle/>
          <a:p>
            <a:pPr algn="ctr"/>
            <a:r>
              <a:rPr lang="zh-CN" altLang="en-US" sz="32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rPr>
              <a:t>智慧农业专家远程指导系统的设计与实现</a:t>
            </a:r>
            <a:endParaRPr lang="zh-CN" altLang="en-US" sz="32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endParaRPr>
          </a:p>
        </p:txBody>
      </p:sp>
      <p:sp>
        <p:nvSpPr>
          <p:cNvPr id="3" name="文本框 36"/>
          <p:cNvSpPr txBox="1"/>
          <p:nvPr>
            <p:custDataLst>
              <p:tags r:id="rId1"/>
            </p:custDataLst>
          </p:nvPr>
        </p:nvSpPr>
        <p:spPr>
          <a:xfrm>
            <a:off x="2519680" y="728345"/>
            <a:ext cx="3368040" cy="1348105"/>
          </a:xfrm>
          <a:prstGeom prst="rect">
            <a:avLst/>
          </a:prstGeom>
          <a:noFill/>
        </p:spPr>
        <p:txBody>
          <a:bodyPr wrap="none" rtlCol="0">
            <a:noAutofit/>
          </a:bodyPr>
          <a:p>
            <a:pPr>
              <a:lnSpc>
                <a:spcPct val="130000"/>
              </a:lnSpc>
            </a:pPr>
            <a:r>
              <a:rPr lang="zh-CN" altLang="en-US" sz="6600" dirty="0">
                <a:solidFill>
                  <a:schemeClr val="bg1"/>
                </a:solidFill>
                <a:latin typeface="微软雅黑" panose="020B0503020204020204" charset="-122"/>
                <a:ea typeface="微软雅黑" panose="020B0503020204020204" charset="-122"/>
              </a:rPr>
              <a:t>计算机毕业</a:t>
            </a:r>
            <a:r>
              <a:rPr lang="zh-CN" altLang="en-US" sz="6600" dirty="0">
                <a:solidFill>
                  <a:schemeClr val="bg1"/>
                </a:solidFill>
                <a:latin typeface="微软雅黑" panose="020B0503020204020204" charset="-122"/>
                <a:ea typeface="微软雅黑" panose="020B0503020204020204" charset="-122"/>
              </a:rPr>
              <a:t>设计答辩</a:t>
            </a:r>
            <a:endParaRPr lang="zh-CN" altLang="en-US" sz="6600" dirty="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4759045" y="1360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1</a:t>
            </a:r>
            <a:endParaRPr lang="zh-CN" altLang="en-US" sz="3600" b="1" kern="0" dirty="0" smtClean="0">
              <a:solidFill>
                <a:prstClr val="white"/>
              </a:solidFill>
              <a:latin typeface="Arial" panose="020B0604020202020204"/>
              <a:ea typeface="微软雅黑" panose="020B0503020204020204" charset="-122"/>
            </a:endParaRPr>
          </a:p>
        </p:txBody>
      </p:sp>
      <p:sp>
        <p:nvSpPr>
          <p:cNvPr id="3" name="流程图: 离页连接符 2"/>
          <p:cNvSpPr/>
          <p:nvPr/>
        </p:nvSpPr>
        <p:spPr>
          <a:xfrm>
            <a:off x="4759045" y="2376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2</a:t>
            </a:r>
            <a:endParaRPr lang="zh-CN" altLang="en-US" sz="3600" b="1" kern="0" dirty="0" smtClean="0">
              <a:solidFill>
                <a:prstClr val="white"/>
              </a:solidFill>
              <a:latin typeface="Arial" panose="020B0604020202020204"/>
              <a:ea typeface="微软雅黑" panose="020B0503020204020204" charset="-122"/>
            </a:endParaRPr>
          </a:p>
        </p:txBody>
      </p:sp>
      <p:sp>
        <p:nvSpPr>
          <p:cNvPr id="4" name="流程图: 离页连接符 3"/>
          <p:cNvSpPr/>
          <p:nvPr/>
        </p:nvSpPr>
        <p:spPr>
          <a:xfrm>
            <a:off x="4759045" y="3392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3</a:t>
            </a:r>
            <a:endParaRPr lang="zh-CN" altLang="en-US" sz="3600" b="1" kern="0" dirty="0" smtClean="0">
              <a:solidFill>
                <a:prstClr val="white"/>
              </a:solidFill>
              <a:latin typeface="Arial" panose="020B0604020202020204"/>
              <a:ea typeface="微软雅黑" panose="020B0503020204020204" charset="-122"/>
            </a:endParaRPr>
          </a:p>
        </p:txBody>
      </p:sp>
      <p:sp>
        <p:nvSpPr>
          <p:cNvPr id="5" name="流程图: 离页连接符 4"/>
          <p:cNvSpPr/>
          <p:nvPr/>
        </p:nvSpPr>
        <p:spPr>
          <a:xfrm>
            <a:off x="4759045" y="4408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4</a:t>
            </a:r>
            <a:endParaRPr lang="zh-CN" altLang="en-US" sz="3600" b="1" kern="0" dirty="0" smtClean="0">
              <a:solidFill>
                <a:prstClr val="white"/>
              </a:solidFill>
              <a:latin typeface="Arial" panose="020B0604020202020204"/>
              <a:ea typeface="微软雅黑" panose="020B0503020204020204" charset="-122"/>
            </a:endParaRPr>
          </a:p>
        </p:txBody>
      </p:sp>
      <p:sp>
        <p:nvSpPr>
          <p:cNvPr id="6" name="流程图: 离页连接符 5"/>
          <p:cNvSpPr/>
          <p:nvPr/>
        </p:nvSpPr>
        <p:spPr>
          <a:xfrm>
            <a:off x="4759045" y="5424398"/>
            <a:ext cx="769482" cy="720156"/>
          </a:xfrm>
          <a:prstGeom prst="flowChartOffpageConnector">
            <a:avLst/>
          </a:prstGeom>
          <a:solidFill>
            <a:srgbClr val="314371"/>
          </a:solidFill>
          <a:ln w="12700" cap="flat" cmpd="sng" algn="ctr">
            <a:noFill/>
            <a:prstDash val="solid"/>
            <a:miter lim="800000"/>
          </a:ln>
          <a:effectLst/>
        </p:spPr>
        <p:txBody>
          <a:bodyPr rtlCol="0" anchor="ctr"/>
          <a:lstStyle/>
          <a:p>
            <a:pPr algn="ctr">
              <a:defRPr/>
            </a:pPr>
            <a:r>
              <a:rPr lang="en-US" altLang="zh-CN" sz="3600" b="1" kern="0" dirty="0" smtClean="0">
                <a:solidFill>
                  <a:prstClr val="white"/>
                </a:solidFill>
                <a:latin typeface="Arial" panose="020B0604020202020204"/>
                <a:ea typeface="微软雅黑" panose="020B0503020204020204" charset="-122"/>
              </a:rPr>
              <a:t>5</a:t>
            </a:r>
            <a:endParaRPr lang="zh-CN" altLang="en-US" sz="3600" b="1" kern="0" dirty="0" smtClean="0">
              <a:solidFill>
                <a:prstClr val="white"/>
              </a:solidFill>
              <a:latin typeface="Arial" panose="020B0604020202020204"/>
              <a:ea typeface="微软雅黑" panose="020B0503020204020204" charset="-122"/>
            </a:endParaRPr>
          </a:p>
        </p:txBody>
      </p:sp>
      <p:cxnSp>
        <p:nvCxnSpPr>
          <p:cNvPr id="7" name="直接连接符 6"/>
          <p:cNvCxnSpPr/>
          <p:nvPr/>
        </p:nvCxnSpPr>
        <p:spPr>
          <a:xfrm>
            <a:off x="5668227" y="1940852"/>
            <a:ext cx="4229100" cy="0"/>
          </a:xfrm>
          <a:prstGeom prst="line">
            <a:avLst/>
          </a:prstGeom>
          <a:noFill/>
          <a:ln w="12700" cap="flat" cmpd="sng" algn="ctr">
            <a:solidFill>
              <a:srgbClr val="314371"/>
            </a:solidFill>
            <a:prstDash val="solid"/>
            <a:miter lim="800000"/>
          </a:ln>
          <a:effectLst/>
        </p:spPr>
      </p:cxnSp>
      <p:cxnSp>
        <p:nvCxnSpPr>
          <p:cNvPr id="8" name="直接连接符 7"/>
          <p:cNvCxnSpPr/>
          <p:nvPr/>
        </p:nvCxnSpPr>
        <p:spPr>
          <a:xfrm>
            <a:off x="5668227" y="2956852"/>
            <a:ext cx="4229100" cy="0"/>
          </a:xfrm>
          <a:prstGeom prst="line">
            <a:avLst/>
          </a:prstGeom>
          <a:noFill/>
          <a:ln w="12700" cap="flat" cmpd="sng" algn="ctr">
            <a:solidFill>
              <a:srgbClr val="314371"/>
            </a:solidFill>
            <a:prstDash val="solid"/>
            <a:miter lim="800000"/>
          </a:ln>
          <a:effectLst/>
        </p:spPr>
      </p:cxnSp>
      <p:cxnSp>
        <p:nvCxnSpPr>
          <p:cNvPr id="9" name="直接连接符 8"/>
          <p:cNvCxnSpPr/>
          <p:nvPr/>
        </p:nvCxnSpPr>
        <p:spPr>
          <a:xfrm>
            <a:off x="5668227" y="4988851"/>
            <a:ext cx="4229100" cy="0"/>
          </a:xfrm>
          <a:prstGeom prst="line">
            <a:avLst/>
          </a:prstGeom>
          <a:noFill/>
          <a:ln w="12700" cap="flat" cmpd="sng" algn="ctr">
            <a:solidFill>
              <a:srgbClr val="314371"/>
            </a:solidFill>
            <a:prstDash val="solid"/>
            <a:miter lim="800000"/>
          </a:ln>
          <a:effectLst/>
        </p:spPr>
      </p:cxnSp>
      <p:cxnSp>
        <p:nvCxnSpPr>
          <p:cNvPr id="10" name="直接连接符 9"/>
          <p:cNvCxnSpPr/>
          <p:nvPr/>
        </p:nvCxnSpPr>
        <p:spPr>
          <a:xfrm>
            <a:off x="5668227" y="3998251"/>
            <a:ext cx="4229100" cy="0"/>
          </a:xfrm>
          <a:prstGeom prst="line">
            <a:avLst/>
          </a:prstGeom>
          <a:noFill/>
          <a:ln w="12700" cap="flat" cmpd="sng" algn="ctr">
            <a:solidFill>
              <a:srgbClr val="314371"/>
            </a:solidFill>
            <a:prstDash val="solid"/>
            <a:miter lim="800000"/>
          </a:ln>
          <a:effectLst/>
        </p:spPr>
      </p:cxnSp>
      <p:cxnSp>
        <p:nvCxnSpPr>
          <p:cNvPr id="11" name="直接连接符 10"/>
          <p:cNvCxnSpPr/>
          <p:nvPr/>
        </p:nvCxnSpPr>
        <p:spPr>
          <a:xfrm>
            <a:off x="5668227" y="6004850"/>
            <a:ext cx="4229100" cy="0"/>
          </a:xfrm>
          <a:prstGeom prst="line">
            <a:avLst/>
          </a:prstGeom>
          <a:noFill/>
          <a:ln w="12700" cap="flat" cmpd="sng" algn="ctr">
            <a:solidFill>
              <a:srgbClr val="314371"/>
            </a:solidFill>
            <a:prstDash val="solid"/>
            <a:miter lim="800000"/>
          </a:ln>
          <a:effectLst/>
        </p:spPr>
      </p:cxnSp>
      <p:sp>
        <p:nvSpPr>
          <p:cNvPr id="17" name="文本框 5"/>
          <p:cNvSpPr txBox="1"/>
          <p:nvPr/>
        </p:nvSpPr>
        <p:spPr>
          <a:xfrm>
            <a:off x="5869679" y="1334709"/>
            <a:ext cx="2698175" cy="523220"/>
          </a:xfrm>
          <a:prstGeom prst="rect">
            <a:avLst/>
          </a:prstGeom>
          <a:noFill/>
        </p:spPr>
        <p:txBody>
          <a:bodyPr wrap="none" rtlCol="0">
            <a:spAutoFit/>
          </a:bodyPr>
          <a:lstStyle/>
          <a:p>
            <a:r>
              <a:rPr lang="zh-CN" altLang="en-US" sz="2800" dirty="0">
                <a:solidFill>
                  <a:prstClr val="black">
                    <a:lumMod val="65000"/>
                    <a:lumOff val="35000"/>
                  </a:prstClr>
                </a:solidFill>
                <a:latin typeface="微软雅黑" panose="020B0503020204020204" charset="-122"/>
                <a:ea typeface="微软雅黑" panose="020B0503020204020204" charset="-122"/>
              </a:rPr>
              <a:t>选题背景及意义</a:t>
            </a:r>
            <a:endParaRPr lang="zh-CN" altLang="en-US" sz="2800" dirty="0">
              <a:solidFill>
                <a:prstClr val="black">
                  <a:lumMod val="65000"/>
                  <a:lumOff val="35000"/>
                </a:prstClr>
              </a:solidFill>
              <a:latin typeface="微软雅黑" panose="020B0503020204020204" charset="-122"/>
              <a:ea typeface="微软雅黑" panose="020B0503020204020204" charset="-122"/>
            </a:endParaRPr>
          </a:p>
        </p:txBody>
      </p:sp>
      <p:sp>
        <p:nvSpPr>
          <p:cNvPr id="18" name="文本框 43"/>
          <p:cNvSpPr txBox="1"/>
          <p:nvPr/>
        </p:nvSpPr>
        <p:spPr>
          <a:xfrm>
            <a:off x="5869679" y="2363693"/>
            <a:ext cx="1605280" cy="521970"/>
          </a:xfrm>
          <a:prstGeom prst="rect">
            <a:avLst/>
          </a:prstGeom>
          <a:noFill/>
        </p:spPr>
        <p:txBody>
          <a:bodyPr wrap="none" rtlCol="0">
            <a:spAutoFit/>
          </a:bodyPr>
          <a:lstStyle/>
          <a:p>
            <a:r>
              <a:rPr lang="zh-CN" altLang="en-US" sz="2800" dirty="0" smtClean="0">
                <a:solidFill>
                  <a:prstClr val="black">
                    <a:lumMod val="65000"/>
                    <a:lumOff val="35000"/>
                  </a:prstClr>
                </a:solidFill>
                <a:latin typeface="微软雅黑" panose="020B0503020204020204" charset="-122"/>
                <a:ea typeface="微软雅黑" panose="020B0503020204020204" charset="-122"/>
              </a:rPr>
              <a:t>技术</a:t>
            </a:r>
            <a:r>
              <a:rPr lang="zh-CN" altLang="en-US" sz="2800" dirty="0" smtClean="0">
                <a:solidFill>
                  <a:prstClr val="black">
                    <a:lumMod val="65000"/>
                    <a:lumOff val="35000"/>
                  </a:prstClr>
                </a:solidFill>
                <a:latin typeface="微软雅黑" panose="020B0503020204020204" charset="-122"/>
                <a:ea typeface="微软雅黑" panose="020B0503020204020204" charset="-122"/>
              </a:rPr>
              <a:t>介绍</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19" name="文本框 44"/>
          <p:cNvSpPr txBox="1"/>
          <p:nvPr/>
        </p:nvSpPr>
        <p:spPr>
          <a:xfrm>
            <a:off x="5869679" y="3379695"/>
            <a:ext cx="1605280" cy="953135"/>
          </a:xfrm>
          <a:prstGeom prst="rect">
            <a:avLst/>
          </a:prstGeom>
          <a:noFill/>
        </p:spPr>
        <p:txBody>
          <a:bodyPr wrap="none" rtlCol="0">
            <a:spAutoFit/>
          </a:bodyPr>
          <a:lstStyle/>
          <a:p>
            <a:pPr lvl="0" algn="l">
              <a:buClrTx/>
              <a:buSzTx/>
              <a:buFontTx/>
            </a:pPr>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系统设</a:t>
            </a:r>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计</a:t>
            </a:r>
            <a:endPar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endParaRPr>
          </a:p>
          <a:p>
            <a:pPr lvl="0" algn="l">
              <a:buClrTx/>
              <a:buSzTx/>
              <a:buFontTx/>
            </a:pPr>
            <a:endPar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endParaRPr>
          </a:p>
        </p:txBody>
      </p:sp>
      <p:sp>
        <p:nvSpPr>
          <p:cNvPr id="20" name="文本框 45"/>
          <p:cNvSpPr txBox="1"/>
          <p:nvPr/>
        </p:nvSpPr>
        <p:spPr>
          <a:xfrm>
            <a:off x="5869679" y="4395693"/>
            <a:ext cx="1605280" cy="521970"/>
          </a:xfrm>
          <a:prstGeom prst="rect">
            <a:avLst/>
          </a:prstGeom>
          <a:noFill/>
        </p:spPr>
        <p:txBody>
          <a:bodyPr wrap="none" rtlCol="0">
            <a:spAutoFit/>
          </a:bodyPr>
          <a:lstStyle/>
          <a:p>
            <a:pPr algn="l"/>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系统演示</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21" name="文本框 46"/>
          <p:cNvSpPr txBox="1"/>
          <p:nvPr/>
        </p:nvSpPr>
        <p:spPr>
          <a:xfrm>
            <a:off x="5869679" y="5411691"/>
            <a:ext cx="1960880" cy="521970"/>
          </a:xfrm>
          <a:prstGeom prst="rect">
            <a:avLst/>
          </a:prstGeom>
          <a:noFill/>
        </p:spPr>
        <p:txBody>
          <a:bodyPr wrap="none" rtlCol="0">
            <a:spAutoFit/>
          </a:bodyPr>
          <a:lstStyle/>
          <a:p>
            <a:pPr algn="l"/>
            <a:r>
              <a:rPr lang="zh-CN" altLang="en-US" sz="2800" dirty="0" smtClean="0">
                <a:solidFill>
                  <a:prstClr val="black">
                    <a:lumMod val="65000"/>
                    <a:lumOff val="35000"/>
                  </a:prstClr>
                </a:solidFill>
                <a:latin typeface="微软雅黑" panose="020B0503020204020204" charset="-122"/>
                <a:ea typeface="微软雅黑" panose="020B0503020204020204" charset="-122"/>
                <a:sym typeface="+mn-ea"/>
              </a:rPr>
              <a:t>总结与致谢</a:t>
            </a:r>
            <a:endParaRPr lang="zh-CN" altLang="en-US" sz="2800" dirty="0" smtClean="0">
              <a:solidFill>
                <a:prstClr val="black">
                  <a:lumMod val="65000"/>
                  <a:lumOff val="35000"/>
                </a:prstClr>
              </a:solidFill>
              <a:latin typeface="微软雅黑" panose="020B0503020204020204" charset="-122"/>
              <a:ea typeface="微软雅黑" panose="020B0503020204020204" charset="-122"/>
            </a:endParaRPr>
          </a:p>
        </p:txBody>
      </p:sp>
      <p:sp>
        <p:nvSpPr>
          <p:cNvPr id="29" name="矩形 42"/>
          <p:cNvSpPr/>
          <p:nvPr/>
        </p:nvSpPr>
        <p:spPr>
          <a:xfrm>
            <a:off x="-1" y="2"/>
            <a:ext cx="3257204" cy="5557996"/>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30" name="TextBox 29"/>
          <p:cNvSpPr txBox="1"/>
          <p:nvPr/>
        </p:nvSpPr>
        <p:spPr>
          <a:xfrm>
            <a:off x="204875" y="592079"/>
            <a:ext cx="2745863" cy="653169"/>
          </a:xfrm>
          <a:prstGeom prst="rect">
            <a:avLst/>
          </a:prstGeom>
          <a:noFill/>
        </p:spPr>
        <p:txBody>
          <a:bodyPr wrap="square" lIns="143935" tIns="71966" rIns="143935" bIns="71966" rtlCol="0">
            <a:spAutoFit/>
          </a:bodyPr>
          <a:lstStyle/>
          <a:p>
            <a:r>
              <a:rPr lang="en-US" altLang="zh-CN" sz="3300" b="1" spc="-192" dirty="0">
                <a:solidFill>
                  <a:schemeClr val="tx2">
                    <a:lumMod val="60000"/>
                    <a:lumOff val="40000"/>
                  </a:schemeClr>
                </a:solidFill>
                <a:latin typeface="微软雅黑" panose="020B0503020204020204" charset="-122"/>
                <a:ea typeface="微软雅黑" panose="020B0503020204020204" charset="-122"/>
              </a:rPr>
              <a:t>CONTENTS</a:t>
            </a:r>
            <a:endParaRPr lang="zh-CN" altLang="en-US" sz="3300" b="1" spc="-192" dirty="0">
              <a:solidFill>
                <a:schemeClr val="tx2">
                  <a:lumMod val="60000"/>
                  <a:lumOff val="40000"/>
                </a:schemeClr>
              </a:solidFill>
              <a:latin typeface="微软雅黑" panose="020B0503020204020204" charset="-122"/>
              <a:ea typeface="微软雅黑" panose="020B0503020204020204" charset="-122"/>
            </a:endParaRPr>
          </a:p>
        </p:txBody>
      </p:sp>
      <p:sp>
        <p:nvSpPr>
          <p:cNvPr id="31" name="矩形 42"/>
          <p:cNvSpPr/>
          <p:nvPr/>
        </p:nvSpPr>
        <p:spPr>
          <a:xfrm flipV="1">
            <a:off x="-1" y="3692150"/>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32" name="TextBox 5"/>
          <p:cNvSpPr>
            <a:spLocks noChangeArrowheads="1"/>
          </p:cNvSpPr>
          <p:nvPr/>
        </p:nvSpPr>
        <p:spPr bwMode="auto">
          <a:xfrm>
            <a:off x="394140" y="1360398"/>
            <a:ext cx="155764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4400" b="1" dirty="0" smtClean="0">
                <a:solidFill>
                  <a:srgbClr val="314371"/>
                </a:solidFill>
                <a:latin typeface="微软雅黑" panose="020B0503020204020204" charset="-122"/>
                <a:ea typeface="微软雅黑" panose="020B0503020204020204" charset="-122"/>
                <a:sym typeface="Bebas Neue" pitchFamily="2" charset="0"/>
              </a:rPr>
              <a:t>目录</a:t>
            </a:r>
            <a:endParaRPr lang="en-US" sz="4400" b="1" dirty="0">
              <a:solidFill>
                <a:srgbClr val="314371"/>
              </a:solidFill>
              <a:latin typeface="微软雅黑" panose="020B0503020204020204" charset="-122"/>
              <a:ea typeface="微软雅黑" panose="020B0503020204020204" charset="-122"/>
              <a:sym typeface="Bebas Neue" pitchFamily="2"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algn="ctr">
              <a:lnSpc>
                <a:spcPct val="130000"/>
              </a:lnSpc>
              <a:defRPr/>
            </a:pPr>
            <a:r>
              <a:rPr lang="en-US" altLang="zh-CN" sz="9600" b="1" kern="0" dirty="0" smtClean="0">
                <a:solidFill>
                  <a:prstClr val="white"/>
                </a:solidFill>
                <a:latin typeface="Arial" panose="020B0604020202020204"/>
                <a:ea typeface="微软雅黑" panose="020B0503020204020204" charset="-122"/>
              </a:rPr>
              <a:t>1</a:t>
            </a:r>
            <a:endParaRPr lang="zh-CN" altLang="en-US" sz="9600" b="1" kern="0" dirty="0" smtClean="0">
              <a:solidFill>
                <a:prstClr val="white"/>
              </a:solidFill>
              <a:latin typeface="Arial" panose="020B0604020202020204"/>
              <a:ea typeface="微软雅黑" panose="020B0503020204020204" charset="-122"/>
            </a:endParaRPr>
          </a:p>
        </p:txBody>
      </p:sp>
      <p:cxnSp>
        <p:nvCxnSpPr>
          <p:cNvPr id="3" name="直接连接符 2"/>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4493538" cy="830997"/>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选题背景及意义</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7"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8"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8" name="流程图: 离页连接符 37"/>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39" name="矩形 38"/>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40" name="直接连接符 39"/>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41" name="组合 40"/>
          <p:cNvGrpSpPr/>
          <p:nvPr/>
        </p:nvGrpSpPr>
        <p:grpSpPr>
          <a:xfrm>
            <a:off x="607853" y="286420"/>
            <a:ext cx="392005" cy="582206"/>
            <a:chOff x="2437632" y="1965988"/>
            <a:chExt cx="1529173" cy="2271132"/>
          </a:xfrm>
          <a:solidFill>
            <a:srgbClr val="314371"/>
          </a:solidFill>
        </p:grpSpPr>
        <p:sp>
          <p:nvSpPr>
            <p:cNvPr id="42"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43"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44"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46" name="文本框 38"/>
          <p:cNvSpPr txBox="1"/>
          <p:nvPr/>
        </p:nvSpPr>
        <p:spPr>
          <a:xfrm>
            <a:off x="1264217" y="351896"/>
            <a:ext cx="2672080" cy="521970"/>
          </a:xfrm>
          <a:prstGeom prst="rect">
            <a:avLst/>
          </a:prstGeom>
          <a:noFill/>
        </p:spPr>
        <p:txBody>
          <a:bodyPr wrap="none" rtlCol="0">
            <a:spAutoFit/>
          </a:bodyPr>
          <a:lstStyle/>
          <a:p>
            <a:r>
              <a:rPr lang="zh-CN" altLang="en-US" sz="2800" b="1" dirty="0" smtClean="0">
                <a:solidFill>
                  <a:srgbClr val="314371"/>
                </a:solidFill>
                <a:latin typeface="微软雅黑" panose="020B0503020204020204" charset="-122"/>
                <a:ea typeface="微软雅黑" panose="020B0503020204020204" charset="-122"/>
                <a:sym typeface="+mn-ea"/>
              </a:rPr>
              <a:t>选题背景及意义</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73" name="椭圆 72"/>
          <p:cNvSpPr/>
          <p:nvPr/>
        </p:nvSpPr>
        <p:spPr>
          <a:xfrm>
            <a:off x="4969170" y="2458201"/>
            <a:ext cx="2382671" cy="2383533"/>
          </a:xfrm>
          <a:prstGeom prst="ellipse">
            <a:avLst/>
          </a:prstGeom>
          <a:noFill/>
          <a:ln w="76200" cap="flat" cmpd="sng" algn="ctr">
            <a:solidFill>
              <a:srgbClr val="314371"/>
            </a:solidFill>
            <a:prstDash val="solid"/>
          </a:ln>
          <a:effectLst/>
        </p:spPr>
        <p:txBody>
          <a:bodyPr lIns="121917" tIns="60958" rIns="121917" bIns="60958" rtlCol="0" anchor="ctr"/>
          <a:lstStyle/>
          <a:p>
            <a:pPr algn="ctr" defTabSz="1131570">
              <a:defRPr/>
            </a:pPr>
            <a:endParaRPr lang="zh-CN" altLang="en-US" sz="2300" kern="0">
              <a:solidFill>
                <a:prstClr val="white"/>
              </a:solidFill>
              <a:latin typeface="Calibri" panose="020F0502020204030204"/>
              <a:ea typeface="宋体" panose="02010600030101010101" pitchFamily="2" charset="-122"/>
            </a:endParaRPr>
          </a:p>
        </p:txBody>
      </p:sp>
      <p:sp>
        <p:nvSpPr>
          <p:cNvPr id="74" name="椭圆 73"/>
          <p:cNvSpPr/>
          <p:nvPr/>
        </p:nvSpPr>
        <p:spPr>
          <a:xfrm>
            <a:off x="5062099" y="2551164"/>
            <a:ext cx="2196813" cy="2197607"/>
          </a:xfrm>
          <a:prstGeom prst="ellipse">
            <a:avLst/>
          </a:prstGeom>
          <a:solidFill>
            <a:srgbClr val="314371"/>
          </a:solidFill>
          <a:ln w="12700" cap="flat" cmpd="sng" algn="ctr">
            <a:solidFill>
              <a:srgbClr val="006CB5"/>
            </a:solidFill>
            <a:prstDash val="solid"/>
          </a:ln>
          <a:effectLst/>
        </p:spPr>
        <p:txBody>
          <a:bodyPr lIns="121917" tIns="60958" rIns="121917" bIns="60958" rtlCol="0" anchor="ctr"/>
          <a:lstStyle/>
          <a:p>
            <a:pPr algn="ctr" defTabSz="1131570">
              <a:defRPr/>
            </a:pPr>
            <a:endParaRPr lang="zh-CN" altLang="en-US" sz="2300" kern="0">
              <a:solidFill>
                <a:prstClr val="white"/>
              </a:solidFill>
              <a:latin typeface="Calibri" panose="020F0502020204030204"/>
              <a:ea typeface="宋体" panose="02010600030101010101" pitchFamily="2" charset="-122"/>
            </a:endParaRPr>
          </a:p>
        </p:txBody>
      </p:sp>
      <p:cxnSp>
        <p:nvCxnSpPr>
          <p:cNvPr id="75" name="直接连接符 74"/>
          <p:cNvCxnSpPr/>
          <p:nvPr/>
        </p:nvCxnSpPr>
        <p:spPr>
          <a:xfrm>
            <a:off x="6160506" y="1953903"/>
            <a:ext cx="0" cy="745450"/>
          </a:xfrm>
          <a:prstGeom prst="line">
            <a:avLst/>
          </a:prstGeom>
          <a:solidFill>
            <a:srgbClr val="FFFFFF"/>
          </a:solidFill>
          <a:ln w="63500" cap="flat" cmpd="sng" algn="ctr">
            <a:solidFill>
              <a:srgbClr val="314371"/>
            </a:solidFill>
            <a:prstDash val="solid"/>
            <a:headEnd type="arrow"/>
          </a:ln>
          <a:effectLst/>
        </p:spPr>
      </p:cxnSp>
      <p:cxnSp>
        <p:nvCxnSpPr>
          <p:cNvPr id="77" name="直接连接符 76"/>
          <p:cNvCxnSpPr/>
          <p:nvPr/>
        </p:nvCxnSpPr>
        <p:spPr>
          <a:xfrm rot="5400000">
            <a:off x="7492438" y="3278016"/>
            <a:ext cx="0" cy="743903"/>
          </a:xfrm>
          <a:prstGeom prst="line">
            <a:avLst/>
          </a:prstGeom>
          <a:solidFill>
            <a:srgbClr val="FFFFFF"/>
          </a:solidFill>
          <a:ln w="63500" cap="flat" cmpd="sng" algn="ctr">
            <a:solidFill>
              <a:srgbClr val="314371"/>
            </a:solidFill>
            <a:prstDash val="solid"/>
            <a:headEnd type="arrow"/>
          </a:ln>
          <a:effectLst/>
        </p:spPr>
      </p:cxnSp>
      <p:cxnSp>
        <p:nvCxnSpPr>
          <p:cNvPr id="78" name="直接连接符 77"/>
          <p:cNvCxnSpPr/>
          <p:nvPr/>
        </p:nvCxnSpPr>
        <p:spPr>
          <a:xfrm rot="5400000">
            <a:off x="4826601" y="3278016"/>
            <a:ext cx="0" cy="743903"/>
          </a:xfrm>
          <a:prstGeom prst="line">
            <a:avLst/>
          </a:prstGeom>
          <a:solidFill>
            <a:srgbClr val="FFFFFF"/>
          </a:solidFill>
          <a:ln w="63500" cap="flat" cmpd="sng" algn="ctr">
            <a:solidFill>
              <a:srgbClr val="314371"/>
            </a:solidFill>
            <a:prstDash val="solid"/>
            <a:tailEnd type="arrow"/>
          </a:ln>
          <a:effectLst/>
        </p:spPr>
      </p:cxnSp>
      <p:sp>
        <p:nvSpPr>
          <p:cNvPr id="81" name="TextBox 80"/>
          <p:cNvSpPr txBox="1"/>
          <p:nvPr/>
        </p:nvSpPr>
        <p:spPr>
          <a:xfrm>
            <a:off x="5841421" y="1289156"/>
            <a:ext cx="638169" cy="492557"/>
          </a:xfrm>
          <a:prstGeom prst="rect">
            <a:avLst/>
          </a:prstGeom>
          <a:noFill/>
        </p:spPr>
        <p:txBody>
          <a:bodyPr wrap="square" lIns="0" tIns="0" rIns="0" bIns="0" rtlCol="0">
            <a:spAutoFit/>
          </a:bodyPr>
          <a:lstStyle/>
          <a:p>
            <a:pPr algn="ctr" defTabSz="1131570"/>
            <a:r>
              <a:rPr lang="en-US" altLang="zh-CN" sz="3200" b="1" dirty="0">
                <a:solidFill>
                  <a:srgbClr val="006CB5"/>
                </a:solidFill>
                <a:latin typeface="微软雅黑" panose="020B0503020204020204" charset="-122"/>
              </a:rPr>
              <a:t>01</a:t>
            </a:r>
            <a:endParaRPr lang="zh-CN" altLang="en-US" sz="3200" b="1" dirty="0">
              <a:solidFill>
                <a:srgbClr val="006CB5"/>
              </a:solidFill>
              <a:latin typeface="微软雅黑" panose="020B0503020204020204" charset="-122"/>
            </a:endParaRPr>
          </a:p>
        </p:txBody>
      </p:sp>
      <p:sp>
        <p:nvSpPr>
          <p:cNvPr id="82" name="TextBox 81"/>
          <p:cNvSpPr txBox="1"/>
          <p:nvPr/>
        </p:nvSpPr>
        <p:spPr>
          <a:xfrm>
            <a:off x="7960388" y="3403690"/>
            <a:ext cx="638169" cy="492557"/>
          </a:xfrm>
          <a:prstGeom prst="rect">
            <a:avLst/>
          </a:prstGeom>
          <a:noFill/>
        </p:spPr>
        <p:txBody>
          <a:bodyPr wrap="square" lIns="0" tIns="0" rIns="0" bIns="0" rtlCol="0">
            <a:spAutoFit/>
          </a:bodyPr>
          <a:lstStyle/>
          <a:p>
            <a:pPr algn="ctr" defTabSz="1131570"/>
            <a:r>
              <a:rPr lang="en-US" altLang="zh-CN" sz="3200" b="1" dirty="0">
                <a:solidFill>
                  <a:srgbClr val="006CB5"/>
                </a:solidFill>
                <a:latin typeface="微软雅黑" panose="020B0503020204020204" charset="-122"/>
              </a:rPr>
              <a:t>02</a:t>
            </a:r>
            <a:endParaRPr lang="zh-CN" altLang="en-US" sz="3200" b="1" dirty="0">
              <a:solidFill>
                <a:srgbClr val="006CB5"/>
              </a:solidFill>
              <a:latin typeface="微软雅黑" panose="020B0503020204020204" charset="-122"/>
            </a:endParaRPr>
          </a:p>
        </p:txBody>
      </p:sp>
      <p:sp>
        <p:nvSpPr>
          <p:cNvPr id="86" name="TextBox 85"/>
          <p:cNvSpPr txBox="1"/>
          <p:nvPr/>
        </p:nvSpPr>
        <p:spPr>
          <a:xfrm>
            <a:off x="3779542" y="3403690"/>
            <a:ext cx="638169" cy="492125"/>
          </a:xfrm>
          <a:prstGeom prst="rect">
            <a:avLst/>
          </a:prstGeom>
          <a:noFill/>
        </p:spPr>
        <p:txBody>
          <a:bodyPr wrap="square" lIns="0" tIns="0" rIns="0" bIns="0" rtlCol="0">
            <a:spAutoFit/>
          </a:bodyPr>
          <a:lstStyle/>
          <a:p>
            <a:pPr algn="ctr" defTabSz="1131570"/>
            <a:r>
              <a:rPr lang="en-US" altLang="zh-CN" sz="3200" b="1" dirty="0">
                <a:solidFill>
                  <a:srgbClr val="314371"/>
                </a:solidFill>
                <a:latin typeface="微软雅黑" panose="020B0503020204020204" charset="-122"/>
              </a:rPr>
              <a:t>03</a:t>
            </a:r>
            <a:endParaRPr lang="zh-CN" altLang="en-US" sz="3200" b="1" dirty="0">
              <a:solidFill>
                <a:srgbClr val="314371"/>
              </a:solidFill>
              <a:latin typeface="微软雅黑" panose="020B0503020204020204" charset="-122"/>
            </a:endParaRPr>
          </a:p>
        </p:txBody>
      </p:sp>
      <p:cxnSp>
        <p:nvCxnSpPr>
          <p:cNvPr id="87" name="直接连接符 86"/>
          <p:cNvCxnSpPr/>
          <p:nvPr/>
        </p:nvCxnSpPr>
        <p:spPr>
          <a:xfrm>
            <a:off x="6826879" y="1203821"/>
            <a:ext cx="0" cy="1122807"/>
          </a:xfrm>
          <a:prstGeom prst="line">
            <a:avLst/>
          </a:prstGeom>
          <a:noFill/>
          <a:ln w="9525" cap="flat" cmpd="sng" algn="ctr">
            <a:solidFill>
              <a:sysClr val="window" lastClr="FFFFFF">
                <a:lumMod val="65000"/>
              </a:sysClr>
            </a:solidFill>
            <a:prstDash val="solid"/>
          </a:ln>
          <a:effectLst/>
        </p:spPr>
      </p:cxnSp>
      <p:cxnSp>
        <p:nvCxnSpPr>
          <p:cNvPr id="88" name="直接连接符 87"/>
          <p:cNvCxnSpPr>
            <a:stCxn id="81" idx="3"/>
          </p:cNvCxnSpPr>
          <p:nvPr/>
        </p:nvCxnSpPr>
        <p:spPr>
          <a:xfrm>
            <a:off x="6479590" y="1535434"/>
            <a:ext cx="352903" cy="0"/>
          </a:xfrm>
          <a:prstGeom prst="line">
            <a:avLst/>
          </a:prstGeom>
          <a:noFill/>
          <a:ln w="9525" cap="flat" cmpd="sng" algn="ctr">
            <a:solidFill>
              <a:sysClr val="window" lastClr="FFFFFF">
                <a:lumMod val="65000"/>
              </a:sysClr>
            </a:solidFill>
            <a:prstDash val="solid"/>
            <a:headEnd type="oval"/>
          </a:ln>
          <a:effectLst/>
        </p:spPr>
      </p:cxnSp>
      <p:cxnSp>
        <p:nvCxnSpPr>
          <p:cNvPr id="89" name="直接连接符 88"/>
          <p:cNvCxnSpPr/>
          <p:nvPr/>
        </p:nvCxnSpPr>
        <p:spPr>
          <a:xfrm>
            <a:off x="8928552" y="3075707"/>
            <a:ext cx="0" cy="1585236"/>
          </a:xfrm>
          <a:prstGeom prst="line">
            <a:avLst/>
          </a:prstGeom>
          <a:noFill/>
          <a:ln w="9525" cap="flat" cmpd="sng" algn="ctr">
            <a:solidFill>
              <a:sysClr val="window" lastClr="FFFFFF">
                <a:lumMod val="65000"/>
              </a:sysClr>
            </a:solidFill>
            <a:prstDash val="solid"/>
          </a:ln>
          <a:effectLst/>
        </p:spPr>
      </p:cxnSp>
      <p:cxnSp>
        <p:nvCxnSpPr>
          <p:cNvPr id="90" name="直接连接符 89"/>
          <p:cNvCxnSpPr/>
          <p:nvPr/>
        </p:nvCxnSpPr>
        <p:spPr>
          <a:xfrm>
            <a:off x="8581262" y="3620641"/>
            <a:ext cx="352903" cy="0"/>
          </a:xfrm>
          <a:prstGeom prst="line">
            <a:avLst/>
          </a:prstGeom>
          <a:noFill/>
          <a:ln w="9525" cap="flat" cmpd="sng" algn="ctr">
            <a:solidFill>
              <a:sysClr val="window" lastClr="FFFFFF">
                <a:lumMod val="65000"/>
              </a:sysClr>
            </a:solidFill>
            <a:prstDash val="solid"/>
            <a:headEnd type="oval"/>
          </a:ln>
          <a:effectLst/>
        </p:spPr>
      </p:cxnSp>
      <p:cxnSp>
        <p:nvCxnSpPr>
          <p:cNvPr id="95" name="直接连接符 94"/>
          <p:cNvCxnSpPr/>
          <p:nvPr/>
        </p:nvCxnSpPr>
        <p:spPr>
          <a:xfrm>
            <a:off x="3391914" y="2551164"/>
            <a:ext cx="0" cy="1680906"/>
          </a:xfrm>
          <a:prstGeom prst="line">
            <a:avLst/>
          </a:prstGeom>
          <a:noFill/>
          <a:ln w="9525" cap="flat" cmpd="sng" algn="ctr">
            <a:solidFill>
              <a:sysClr val="window" lastClr="FFFFFF">
                <a:lumMod val="65000"/>
              </a:sysClr>
            </a:solidFill>
            <a:prstDash val="solid"/>
          </a:ln>
          <a:effectLst/>
        </p:spPr>
      </p:cxnSp>
      <p:cxnSp>
        <p:nvCxnSpPr>
          <p:cNvPr id="96" name="直接连接符 95"/>
          <p:cNvCxnSpPr/>
          <p:nvPr/>
        </p:nvCxnSpPr>
        <p:spPr>
          <a:xfrm flipH="1">
            <a:off x="3391915" y="3620641"/>
            <a:ext cx="352903" cy="0"/>
          </a:xfrm>
          <a:prstGeom prst="line">
            <a:avLst/>
          </a:prstGeom>
          <a:noFill/>
          <a:ln w="9525" cap="flat" cmpd="sng" algn="ctr">
            <a:solidFill>
              <a:sysClr val="window" lastClr="FFFFFF">
                <a:lumMod val="65000"/>
              </a:sysClr>
            </a:solidFill>
            <a:prstDash val="solid"/>
            <a:headEnd type="oval"/>
          </a:ln>
          <a:effectLst/>
        </p:spPr>
      </p:cxnSp>
      <p:sp>
        <p:nvSpPr>
          <p:cNvPr id="99" name="Freeform 5"/>
          <p:cNvSpPr>
            <a:spLocks noEditPoints="1"/>
          </p:cNvSpPr>
          <p:nvPr/>
        </p:nvSpPr>
        <p:spPr bwMode="auto">
          <a:xfrm>
            <a:off x="5636606" y="2879304"/>
            <a:ext cx="1047802" cy="1541327"/>
          </a:xfrm>
          <a:custGeom>
            <a:avLst/>
            <a:gdLst>
              <a:gd name="T0" fmla="*/ 101 w 301"/>
              <a:gd name="T1" fmla="*/ 414 h 445"/>
              <a:gd name="T2" fmla="*/ 200 w 301"/>
              <a:gd name="T3" fmla="*/ 414 h 445"/>
              <a:gd name="T4" fmla="*/ 301 w 301"/>
              <a:gd name="T5" fmla="*/ 147 h 445"/>
              <a:gd name="T6" fmla="*/ 236 w 301"/>
              <a:gd name="T7" fmla="*/ 300 h 445"/>
              <a:gd name="T8" fmla="*/ 205 w 301"/>
              <a:gd name="T9" fmla="*/ 349 h 445"/>
              <a:gd name="T10" fmla="*/ 64 w 301"/>
              <a:gd name="T11" fmla="*/ 300 h 445"/>
              <a:gd name="T12" fmla="*/ 0 w 301"/>
              <a:gd name="T13" fmla="*/ 147 h 445"/>
              <a:gd name="T14" fmla="*/ 108 w 301"/>
              <a:gd name="T15" fmla="*/ 421 h 445"/>
              <a:gd name="T16" fmla="*/ 101 w 301"/>
              <a:gd name="T17" fmla="*/ 413 h 445"/>
              <a:gd name="T18" fmla="*/ 200 w 301"/>
              <a:gd name="T19" fmla="*/ 413 h 445"/>
              <a:gd name="T20" fmla="*/ 192 w 301"/>
              <a:gd name="T21" fmla="*/ 421 h 445"/>
              <a:gd name="T22" fmla="*/ 194 w 301"/>
              <a:gd name="T23" fmla="*/ 152 h 445"/>
              <a:gd name="T24" fmla="*/ 207 w 301"/>
              <a:gd name="T25" fmla="*/ 168 h 445"/>
              <a:gd name="T26" fmla="*/ 211 w 301"/>
              <a:gd name="T27" fmla="*/ 162 h 445"/>
              <a:gd name="T28" fmla="*/ 211 w 301"/>
              <a:gd name="T29" fmla="*/ 150 h 445"/>
              <a:gd name="T30" fmla="*/ 204 w 301"/>
              <a:gd name="T31" fmla="*/ 136 h 445"/>
              <a:gd name="T32" fmla="*/ 221 w 301"/>
              <a:gd name="T33" fmla="*/ 159 h 445"/>
              <a:gd name="T34" fmla="*/ 227 w 301"/>
              <a:gd name="T35" fmla="*/ 168 h 445"/>
              <a:gd name="T36" fmla="*/ 240 w 301"/>
              <a:gd name="T37" fmla="*/ 168 h 445"/>
              <a:gd name="T38" fmla="*/ 236 w 301"/>
              <a:gd name="T39" fmla="*/ 175 h 445"/>
              <a:gd name="T40" fmla="*/ 167 w 301"/>
              <a:gd name="T41" fmla="*/ 327 h 445"/>
              <a:gd name="T42" fmla="*/ 222 w 301"/>
              <a:gd name="T43" fmla="*/ 267 h 445"/>
              <a:gd name="T44" fmla="*/ 241 w 301"/>
              <a:gd name="T45" fmla="*/ 59 h 445"/>
              <a:gd name="T46" fmla="*/ 22 w 301"/>
              <a:gd name="T47" fmla="*/ 147 h 445"/>
              <a:gd name="T48" fmla="*/ 86 w 301"/>
              <a:gd name="T49" fmla="*/ 298 h 445"/>
              <a:gd name="T50" fmla="*/ 132 w 301"/>
              <a:gd name="T51" fmla="*/ 317 h 445"/>
              <a:gd name="T52" fmla="*/ 67 w 301"/>
              <a:gd name="T53" fmla="*/ 172 h 445"/>
              <a:gd name="T54" fmla="*/ 80 w 301"/>
              <a:gd name="T55" fmla="*/ 149 h 445"/>
              <a:gd name="T56" fmla="*/ 93 w 301"/>
              <a:gd name="T57" fmla="*/ 143 h 445"/>
              <a:gd name="T58" fmla="*/ 92 w 301"/>
              <a:gd name="T59" fmla="*/ 173 h 445"/>
              <a:gd name="T60" fmla="*/ 103 w 301"/>
              <a:gd name="T61" fmla="*/ 166 h 445"/>
              <a:gd name="T62" fmla="*/ 126 w 301"/>
              <a:gd name="T63" fmla="*/ 135 h 445"/>
              <a:gd name="T64" fmla="*/ 139 w 301"/>
              <a:gd name="T65" fmla="*/ 107 h 445"/>
              <a:gd name="T66" fmla="*/ 146 w 301"/>
              <a:gd name="T67" fmla="*/ 171 h 445"/>
              <a:gd name="T68" fmla="*/ 148 w 301"/>
              <a:gd name="T69" fmla="*/ 159 h 445"/>
              <a:gd name="T70" fmla="*/ 152 w 301"/>
              <a:gd name="T71" fmla="*/ 142 h 445"/>
              <a:gd name="T72" fmla="*/ 180 w 301"/>
              <a:gd name="T73" fmla="*/ 143 h 445"/>
              <a:gd name="T74" fmla="*/ 167 w 301"/>
              <a:gd name="T75" fmla="*/ 169 h 445"/>
              <a:gd name="T76" fmla="*/ 186 w 301"/>
              <a:gd name="T77" fmla="*/ 167 h 445"/>
              <a:gd name="T78" fmla="*/ 229 w 301"/>
              <a:gd name="T79" fmla="*/ 176 h 445"/>
              <a:gd name="T80" fmla="*/ 217 w 301"/>
              <a:gd name="T81" fmla="*/ 170 h 445"/>
              <a:gd name="T82" fmla="*/ 175 w 301"/>
              <a:gd name="T83" fmla="*/ 179 h 445"/>
              <a:gd name="T84" fmla="*/ 137 w 301"/>
              <a:gd name="T85" fmla="*/ 176 h 445"/>
              <a:gd name="T86" fmla="*/ 124 w 301"/>
              <a:gd name="T87" fmla="*/ 180 h 445"/>
              <a:gd name="T88" fmla="*/ 106 w 301"/>
              <a:gd name="T89" fmla="*/ 174 h 445"/>
              <a:gd name="T90" fmla="*/ 80 w 301"/>
              <a:gd name="T91" fmla="*/ 167 h 445"/>
              <a:gd name="T92" fmla="*/ 72 w 301"/>
              <a:gd name="T93" fmla="*/ 169 h 445"/>
              <a:gd name="T94" fmla="*/ 161 w 301"/>
              <a:gd name="T95" fmla="*/ 327 h 445"/>
              <a:gd name="T96" fmla="*/ 111 w 301"/>
              <a:gd name="T97" fmla="*/ 166 h 445"/>
              <a:gd name="T98" fmla="*/ 118 w 301"/>
              <a:gd name="T99" fmla="*/ 172 h 445"/>
              <a:gd name="T100" fmla="*/ 128 w 301"/>
              <a:gd name="T101" fmla="*/ 145 h 445"/>
              <a:gd name="T102" fmla="*/ 111 w 301"/>
              <a:gd name="T103" fmla="*/ 157 h 445"/>
              <a:gd name="T104" fmla="*/ 167 w 301"/>
              <a:gd name="T105" fmla="*/ 158 h 445"/>
              <a:gd name="T106" fmla="*/ 170 w 301"/>
              <a:gd name="T107" fmla="*/ 144 h 445"/>
              <a:gd name="T108" fmla="*/ 157 w 301"/>
              <a:gd name="T109" fmla="*/ 152 h 445"/>
              <a:gd name="T110" fmla="*/ 159 w 301"/>
              <a:gd name="T111" fmla="*/ 165 h 445"/>
              <a:gd name="T112" fmla="*/ 130 w 301"/>
              <a:gd name="T113" fmla="*/ 428 h 445"/>
              <a:gd name="T114" fmla="*/ 170 w 301"/>
              <a:gd name="T115" fmla="*/ 445 h 445"/>
              <a:gd name="T116" fmla="*/ 92 w 301"/>
              <a:gd name="T117" fmla="*/ 389 h 445"/>
              <a:gd name="T118" fmla="*/ 208 w 301"/>
              <a:gd name="T119" fmla="*/ 389 h 445"/>
              <a:gd name="T120" fmla="*/ 101 w 301"/>
              <a:gd name="T121" fmla="*/ 373 h 445"/>
              <a:gd name="T122" fmla="*/ 200 w 301"/>
              <a:gd name="T123" fmla="*/ 356 h 445"/>
              <a:gd name="T124" fmla="*/ 101 w 301"/>
              <a:gd name="T125" fmla="*/ 373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1" h="445">
                <a:moveTo>
                  <a:pt x="101" y="414"/>
                </a:moveTo>
                <a:cubicBezTo>
                  <a:pt x="101" y="414"/>
                  <a:pt x="101" y="414"/>
                  <a:pt x="101" y="414"/>
                </a:cubicBezTo>
                <a:cubicBezTo>
                  <a:pt x="101" y="414"/>
                  <a:pt x="101" y="414"/>
                  <a:pt x="101" y="414"/>
                </a:cubicBezTo>
                <a:close/>
                <a:moveTo>
                  <a:pt x="200" y="414"/>
                </a:moveTo>
                <a:cubicBezTo>
                  <a:pt x="200" y="414"/>
                  <a:pt x="200" y="414"/>
                  <a:pt x="200" y="414"/>
                </a:cubicBezTo>
                <a:cubicBezTo>
                  <a:pt x="200" y="414"/>
                  <a:pt x="200" y="414"/>
                  <a:pt x="200" y="414"/>
                </a:cubicBezTo>
                <a:close/>
                <a:moveTo>
                  <a:pt x="150" y="0"/>
                </a:moveTo>
                <a:cubicBezTo>
                  <a:pt x="192" y="0"/>
                  <a:pt x="229" y="17"/>
                  <a:pt x="257" y="43"/>
                </a:cubicBezTo>
                <a:cubicBezTo>
                  <a:pt x="284" y="69"/>
                  <a:pt x="301" y="106"/>
                  <a:pt x="301" y="147"/>
                </a:cubicBezTo>
                <a:cubicBezTo>
                  <a:pt x="301" y="197"/>
                  <a:pt x="284" y="218"/>
                  <a:pt x="266" y="239"/>
                </a:cubicBezTo>
                <a:cubicBezTo>
                  <a:pt x="258" y="249"/>
                  <a:pt x="249" y="260"/>
                  <a:pt x="243" y="275"/>
                </a:cubicBezTo>
                <a:cubicBezTo>
                  <a:pt x="238" y="286"/>
                  <a:pt x="237" y="294"/>
                  <a:pt x="236" y="300"/>
                </a:cubicBezTo>
                <a:cubicBezTo>
                  <a:pt x="235" y="313"/>
                  <a:pt x="234" y="323"/>
                  <a:pt x="213" y="346"/>
                </a:cubicBezTo>
                <a:cubicBezTo>
                  <a:pt x="211" y="348"/>
                  <a:pt x="208" y="349"/>
                  <a:pt x="205" y="349"/>
                </a:cubicBezTo>
                <a:cubicBezTo>
                  <a:pt x="205" y="349"/>
                  <a:pt x="205" y="349"/>
                  <a:pt x="205" y="349"/>
                </a:cubicBezTo>
                <a:cubicBezTo>
                  <a:pt x="95" y="349"/>
                  <a:pt x="95" y="349"/>
                  <a:pt x="95" y="349"/>
                </a:cubicBezTo>
                <a:cubicBezTo>
                  <a:pt x="92" y="349"/>
                  <a:pt x="89" y="348"/>
                  <a:pt x="86" y="345"/>
                </a:cubicBezTo>
                <a:cubicBezTo>
                  <a:pt x="67" y="323"/>
                  <a:pt x="65" y="313"/>
                  <a:pt x="64" y="300"/>
                </a:cubicBezTo>
                <a:cubicBezTo>
                  <a:pt x="63" y="294"/>
                  <a:pt x="63" y="286"/>
                  <a:pt x="58" y="275"/>
                </a:cubicBezTo>
                <a:cubicBezTo>
                  <a:pt x="52" y="260"/>
                  <a:pt x="43" y="249"/>
                  <a:pt x="34" y="239"/>
                </a:cubicBezTo>
                <a:cubicBezTo>
                  <a:pt x="17" y="218"/>
                  <a:pt x="0" y="197"/>
                  <a:pt x="0" y="147"/>
                </a:cubicBezTo>
                <a:cubicBezTo>
                  <a:pt x="0" y="106"/>
                  <a:pt x="17" y="69"/>
                  <a:pt x="44" y="43"/>
                </a:cubicBezTo>
                <a:cubicBezTo>
                  <a:pt x="71" y="17"/>
                  <a:pt x="109" y="0"/>
                  <a:pt x="150" y="0"/>
                </a:cubicBezTo>
                <a:close/>
                <a:moveTo>
                  <a:pt x="108" y="421"/>
                </a:moveTo>
                <a:cubicBezTo>
                  <a:pt x="104" y="421"/>
                  <a:pt x="101" y="418"/>
                  <a:pt x="101" y="414"/>
                </a:cubicBezTo>
                <a:cubicBezTo>
                  <a:pt x="101" y="413"/>
                  <a:pt x="101" y="413"/>
                  <a:pt x="101" y="413"/>
                </a:cubicBezTo>
                <a:cubicBezTo>
                  <a:pt x="101" y="413"/>
                  <a:pt x="101" y="413"/>
                  <a:pt x="101" y="413"/>
                </a:cubicBezTo>
                <a:cubicBezTo>
                  <a:pt x="101" y="408"/>
                  <a:pt x="104" y="404"/>
                  <a:pt x="108" y="404"/>
                </a:cubicBezTo>
                <a:cubicBezTo>
                  <a:pt x="192" y="404"/>
                  <a:pt x="192" y="404"/>
                  <a:pt x="192" y="404"/>
                </a:cubicBezTo>
                <a:cubicBezTo>
                  <a:pt x="196" y="404"/>
                  <a:pt x="200" y="408"/>
                  <a:pt x="200" y="413"/>
                </a:cubicBezTo>
                <a:cubicBezTo>
                  <a:pt x="200" y="413"/>
                  <a:pt x="200" y="413"/>
                  <a:pt x="200" y="414"/>
                </a:cubicBezTo>
                <a:cubicBezTo>
                  <a:pt x="200" y="414"/>
                  <a:pt x="200" y="414"/>
                  <a:pt x="200" y="414"/>
                </a:cubicBezTo>
                <a:cubicBezTo>
                  <a:pt x="199" y="418"/>
                  <a:pt x="196" y="421"/>
                  <a:pt x="192" y="421"/>
                </a:cubicBezTo>
                <a:cubicBezTo>
                  <a:pt x="108" y="421"/>
                  <a:pt x="108" y="421"/>
                  <a:pt x="108" y="421"/>
                </a:cubicBezTo>
                <a:close/>
                <a:moveTo>
                  <a:pt x="204" y="144"/>
                </a:moveTo>
                <a:cubicBezTo>
                  <a:pt x="199" y="144"/>
                  <a:pt x="195" y="147"/>
                  <a:pt x="194" y="152"/>
                </a:cubicBezTo>
                <a:cubicBezTo>
                  <a:pt x="193" y="154"/>
                  <a:pt x="192" y="156"/>
                  <a:pt x="192" y="157"/>
                </a:cubicBezTo>
                <a:cubicBezTo>
                  <a:pt x="193" y="159"/>
                  <a:pt x="193" y="161"/>
                  <a:pt x="194" y="163"/>
                </a:cubicBezTo>
                <a:cubicBezTo>
                  <a:pt x="196" y="166"/>
                  <a:pt x="200" y="168"/>
                  <a:pt x="207" y="168"/>
                </a:cubicBezTo>
                <a:cubicBezTo>
                  <a:pt x="209" y="168"/>
                  <a:pt x="210" y="165"/>
                  <a:pt x="211" y="162"/>
                </a:cubicBezTo>
                <a:cubicBezTo>
                  <a:pt x="211" y="162"/>
                  <a:pt x="211" y="162"/>
                  <a:pt x="211" y="162"/>
                </a:cubicBezTo>
                <a:cubicBezTo>
                  <a:pt x="211" y="162"/>
                  <a:pt x="211" y="162"/>
                  <a:pt x="211" y="162"/>
                </a:cubicBezTo>
                <a:cubicBezTo>
                  <a:pt x="212" y="161"/>
                  <a:pt x="212" y="159"/>
                  <a:pt x="212" y="158"/>
                </a:cubicBezTo>
                <a:cubicBezTo>
                  <a:pt x="212" y="157"/>
                  <a:pt x="212" y="156"/>
                  <a:pt x="212" y="154"/>
                </a:cubicBezTo>
                <a:cubicBezTo>
                  <a:pt x="211" y="153"/>
                  <a:pt x="211" y="151"/>
                  <a:pt x="211" y="150"/>
                </a:cubicBezTo>
                <a:cubicBezTo>
                  <a:pt x="209" y="147"/>
                  <a:pt x="207" y="144"/>
                  <a:pt x="204" y="144"/>
                </a:cubicBezTo>
                <a:close/>
                <a:moveTo>
                  <a:pt x="186" y="149"/>
                </a:moveTo>
                <a:cubicBezTo>
                  <a:pt x="189" y="141"/>
                  <a:pt x="195" y="136"/>
                  <a:pt x="204" y="136"/>
                </a:cubicBezTo>
                <a:cubicBezTo>
                  <a:pt x="208" y="136"/>
                  <a:pt x="213" y="138"/>
                  <a:pt x="215" y="141"/>
                </a:cubicBezTo>
                <a:cubicBezTo>
                  <a:pt x="218" y="130"/>
                  <a:pt x="225" y="134"/>
                  <a:pt x="226" y="139"/>
                </a:cubicBezTo>
                <a:cubicBezTo>
                  <a:pt x="227" y="143"/>
                  <a:pt x="219" y="153"/>
                  <a:pt x="221" y="159"/>
                </a:cubicBezTo>
                <a:cubicBezTo>
                  <a:pt x="221" y="160"/>
                  <a:pt x="221" y="162"/>
                  <a:pt x="222" y="163"/>
                </a:cubicBezTo>
                <a:cubicBezTo>
                  <a:pt x="223" y="164"/>
                  <a:pt x="223" y="165"/>
                  <a:pt x="224" y="166"/>
                </a:cubicBezTo>
                <a:cubicBezTo>
                  <a:pt x="225" y="167"/>
                  <a:pt x="226" y="168"/>
                  <a:pt x="227" y="168"/>
                </a:cubicBezTo>
                <a:cubicBezTo>
                  <a:pt x="228" y="168"/>
                  <a:pt x="230" y="168"/>
                  <a:pt x="231" y="168"/>
                </a:cubicBezTo>
                <a:cubicBezTo>
                  <a:pt x="232" y="168"/>
                  <a:pt x="233" y="167"/>
                  <a:pt x="234" y="167"/>
                </a:cubicBezTo>
                <a:cubicBezTo>
                  <a:pt x="236" y="166"/>
                  <a:pt x="238" y="166"/>
                  <a:pt x="240" y="168"/>
                </a:cubicBezTo>
                <a:cubicBezTo>
                  <a:pt x="241" y="171"/>
                  <a:pt x="240" y="173"/>
                  <a:pt x="238" y="174"/>
                </a:cubicBezTo>
                <a:cubicBezTo>
                  <a:pt x="238" y="174"/>
                  <a:pt x="237" y="175"/>
                  <a:pt x="237" y="175"/>
                </a:cubicBezTo>
                <a:cubicBezTo>
                  <a:pt x="236" y="175"/>
                  <a:pt x="236" y="175"/>
                  <a:pt x="236" y="175"/>
                </a:cubicBezTo>
                <a:cubicBezTo>
                  <a:pt x="234" y="179"/>
                  <a:pt x="231" y="183"/>
                  <a:pt x="229" y="186"/>
                </a:cubicBezTo>
                <a:cubicBezTo>
                  <a:pt x="201" y="228"/>
                  <a:pt x="173" y="273"/>
                  <a:pt x="167" y="320"/>
                </a:cubicBezTo>
                <a:cubicBezTo>
                  <a:pt x="167" y="322"/>
                  <a:pt x="167" y="325"/>
                  <a:pt x="167" y="327"/>
                </a:cubicBezTo>
                <a:cubicBezTo>
                  <a:pt x="200" y="327"/>
                  <a:pt x="200" y="327"/>
                  <a:pt x="200" y="327"/>
                </a:cubicBezTo>
                <a:cubicBezTo>
                  <a:pt x="212" y="312"/>
                  <a:pt x="213" y="306"/>
                  <a:pt x="214" y="298"/>
                </a:cubicBezTo>
                <a:cubicBezTo>
                  <a:pt x="215" y="290"/>
                  <a:pt x="216" y="281"/>
                  <a:pt x="222" y="267"/>
                </a:cubicBezTo>
                <a:cubicBezTo>
                  <a:pt x="229" y="249"/>
                  <a:pt x="239" y="236"/>
                  <a:pt x="249" y="225"/>
                </a:cubicBezTo>
                <a:cubicBezTo>
                  <a:pt x="264" y="207"/>
                  <a:pt x="278" y="189"/>
                  <a:pt x="278" y="147"/>
                </a:cubicBezTo>
                <a:cubicBezTo>
                  <a:pt x="278" y="112"/>
                  <a:pt x="264" y="81"/>
                  <a:pt x="241" y="59"/>
                </a:cubicBezTo>
                <a:cubicBezTo>
                  <a:pt x="218" y="37"/>
                  <a:pt x="186" y="23"/>
                  <a:pt x="150" y="23"/>
                </a:cubicBezTo>
                <a:cubicBezTo>
                  <a:pt x="115" y="23"/>
                  <a:pt x="83" y="37"/>
                  <a:pt x="60" y="59"/>
                </a:cubicBezTo>
                <a:cubicBezTo>
                  <a:pt x="36" y="81"/>
                  <a:pt x="22" y="112"/>
                  <a:pt x="22" y="147"/>
                </a:cubicBezTo>
                <a:cubicBezTo>
                  <a:pt x="22" y="189"/>
                  <a:pt x="37" y="207"/>
                  <a:pt x="51" y="225"/>
                </a:cubicBezTo>
                <a:cubicBezTo>
                  <a:pt x="61" y="236"/>
                  <a:pt x="71" y="249"/>
                  <a:pt x="79" y="267"/>
                </a:cubicBezTo>
                <a:cubicBezTo>
                  <a:pt x="85" y="281"/>
                  <a:pt x="86" y="290"/>
                  <a:pt x="86" y="298"/>
                </a:cubicBezTo>
                <a:cubicBezTo>
                  <a:pt x="87" y="306"/>
                  <a:pt x="88" y="312"/>
                  <a:pt x="100" y="327"/>
                </a:cubicBezTo>
                <a:cubicBezTo>
                  <a:pt x="133" y="327"/>
                  <a:pt x="133" y="327"/>
                  <a:pt x="133" y="327"/>
                </a:cubicBezTo>
                <a:cubicBezTo>
                  <a:pt x="133" y="324"/>
                  <a:pt x="133" y="320"/>
                  <a:pt x="132" y="317"/>
                </a:cubicBezTo>
                <a:cubicBezTo>
                  <a:pt x="129" y="293"/>
                  <a:pt x="121" y="270"/>
                  <a:pt x="110" y="246"/>
                </a:cubicBezTo>
                <a:cubicBezTo>
                  <a:pt x="100" y="224"/>
                  <a:pt x="87" y="202"/>
                  <a:pt x="74" y="182"/>
                </a:cubicBezTo>
                <a:cubicBezTo>
                  <a:pt x="71" y="179"/>
                  <a:pt x="69" y="175"/>
                  <a:pt x="67" y="172"/>
                </a:cubicBezTo>
                <a:cubicBezTo>
                  <a:pt x="65" y="172"/>
                  <a:pt x="64" y="172"/>
                  <a:pt x="63" y="170"/>
                </a:cubicBezTo>
                <a:cubicBezTo>
                  <a:pt x="61" y="168"/>
                  <a:pt x="62" y="166"/>
                  <a:pt x="64" y="164"/>
                </a:cubicBezTo>
                <a:cubicBezTo>
                  <a:pt x="73" y="157"/>
                  <a:pt x="77" y="154"/>
                  <a:pt x="80" y="149"/>
                </a:cubicBezTo>
                <a:cubicBezTo>
                  <a:pt x="81" y="142"/>
                  <a:pt x="83" y="137"/>
                  <a:pt x="84" y="135"/>
                </a:cubicBezTo>
                <a:cubicBezTo>
                  <a:pt x="84" y="135"/>
                  <a:pt x="89" y="128"/>
                  <a:pt x="93" y="136"/>
                </a:cubicBezTo>
                <a:cubicBezTo>
                  <a:pt x="94" y="137"/>
                  <a:pt x="94" y="140"/>
                  <a:pt x="93" y="143"/>
                </a:cubicBezTo>
                <a:cubicBezTo>
                  <a:pt x="92" y="145"/>
                  <a:pt x="91" y="148"/>
                  <a:pt x="89" y="152"/>
                </a:cubicBezTo>
                <a:cubicBezTo>
                  <a:pt x="88" y="159"/>
                  <a:pt x="88" y="164"/>
                  <a:pt x="89" y="167"/>
                </a:cubicBezTo>
                <a:cubicBezTo>
                  <a:pt x="89" y="172"/>
                  <a:pt x="91" y="172"/>
                  <a:pt x="92" y="173"/>
                </a:cubicBezTo>
                <a:cubicBezTo>
                  <a:pt x="94" y="173"/>
                  <a:pt x="97" y="170"/>
                  <a:pt x="101" y="168"/>
                </a:cubicBezTo>
                <a:cubicBezTo>
                  <a:pt x="101" y="167"/>
                  <a:pt x="101" y="167"/>
                  <a:pt x="101" y="167"/>
                </a:cubicBezTo>
                <a:cubicBezTo>
                  <a:pt x="102" y="167"/>
                  <a:pt x="102" y="166"/>
                  <a:pt x="103" y="166"/>
                </a:cubicBezTo>
                <a:cubicBezTo>
                  <a:pt x="102" y="163"/>
                  <a:pt x="102" y="159"/>
                  <a:pt x="103" y="155"/>
                </a:cubicBezTo>
                <a:cubicBezTo>
                  <a:pt x="105" y="143"/>
                  <a:pt x="111" y="137"/>
                  <a:pt x="117" y="135"/>
                </a:cubicBezTo>
                <a:cubicBezTo>
                  <a:pt x="120" y="134"/>
                  <a:pt x="123" y="134"/>
                  <a:pt x="126" y="135"/>
                </a:cubicBezTo>
                <a:cubicBezTo>
                  <a:pt x="128" y="136"/>
                  <a:pt x="131" y="137"/>
                  <a:pt x="133" y="139"/>
                </a:cubicBezTo>
                <a:cubicBezTo>
                  <a:pt x="133" y="139"/>
                  <a:pt x="133" y="139"/>
                  <a:pt x="133" y="139"/>
                </a:cubicBezTo>
                <a:cubicBezTo>
                  <a:pt x="134" y="127"/>
                  <a:pt x="137" y="115"/>
                  <a:pt x="139" y="107"/>
                </a:cubicBezTo>
                <a:cubicBezTo>
                  <a:pt x="142" y="96"/>
                  <a:pt x="155" y="95"/>
                  <a:pt x="148" y="119"/>
                </a:cubicBezTo>
                <a:cubicBezTo>
                  <a:pt x="146" y="128"/>
                  <a:pt x="142" y="137"/>
                  <a:pt x="141" y="147"/>
                </a:cubicBezTo>
                <a:cubicBezTo>
                  <a:pt x="141" y="151"/>
                  <a:pt x="139" y="172"/>
                  <a:pt x="146" y="171"/>
                </a:cubicBezTo>
                <a:cubicBezTo>
                  <a:pt x="147" y="170"/>
                  <a:pt x="148" y="170"/>
                  <a:pt x="148" y="170"/>
                </a:cubicBezTo>
                <a:cubicBezTo>
                  <a:pt x="149" y="170"/>
                  <a:pt x="150" y="169"/>
                  <a:pt x="151" y="169"/>
                </a:cubicBezTo>
                <a:cubicBezTo>
                  <a:pt x="150" y="166"/>
                  <a:pt x="149" y="163"/>
                  <a:pt x="148" y="159"/>
                </a:cubicBezTo>
                <a:cubicBezTo>
                  <a:pt x="148" y="156"/>
                  <a:pt x="148" y="153"/>
                  <a:pt x="149" y="150"/>
                </a:cubicBezTo>
                <a:cubicBezTo>
                  <a:pt x="148" y="150"/>
                  <a:pt x="148" y="150"/>
                  <a:pt x="148" y="150"/>
                </a:cubicBezTo>
                <a:cubicBezTo>
                  <a:pt x="149" y="147"/>
                  <a:pt x="150" y="144"/>
                  <a:pt x="152" y="142"/>
                </a:cubicBezTo>
                <a:cubicBezTo>
                  <a:pt x="155" y="138"/>
                  <a:pt x="158" y="135"/>
                  <a:pt x="163" y="135"/>
                </a:cubicBezTo>
                <a:cubicBezTo>
                  <a:pt x="168" y="134"/>
                  <a:pt x="172" y="135"/>
                  <a:pt x="175" y="137"/>
                </a:cubicBezTo>
                <a:cubicBezTo>
                  <a:pt x="177" y="138"/>
                  <a:pt x="179" y="141"/>
                  <a:pt x="180" y="143"/>
                </a:cubicBezTo>
                <a:cubicBezTo>
                  <a:pt x="181" y="146"/>
                  <a:pt x="181" y="149"/>
                  <a:pt x="181" y="152"/>
                </a:cubicBezTo>
                <a:cubicBezTo>
                  <a:pt x="180" y="156"/>
                  <a:pt x="177" y="161"/>
                  <a:pt x="173" y="164"/>
                </a:cubicBezTo>
                <a:cubicBezTo>
                  <a:pt x="171" y="166"/>
                  <a:pt x="169" y="168"/>
                  <a:pt x="167" y="169"/>
                </a:cubicBezTo>
                <a:cubicBezTo>
                  <a:pt x="170" y="170"/>
                  <a:pt x="173" y="171"/>
                  <a:pt x="175" y="171"/>
                </a:cubicBezTo>
                <a:cubicBezTo>
                  <a:pt x="180" y="171"/>
                  <a:pt x="183" y="170"/>
                  <a:pt x="187" y="167"/>
                </a:cubicBezTo>
                <a:cubicBezTo>
                  <a:pt x="187" y="167"/>
                  <a:pt x="187" y="167"/>
                  <a:pt x="186" y="167"/>
                </a:cubicBezTo>
                <a:cubicBezTo>
                  <a:pt x="185" y="164"/>
                  <a:pt x="184" y="161"/>
                  <a:pt x="184" y="158"/>
                </a:cubicBezTo>
                <a:cubicBezTo>
                  <a:pt x="184" y="155"/>
                  <a:pt x="185" y="151"/>
                  <a:pt x="186" y="149"/>
                </a:cubicBezTo>
                <a:close/>
                <a:moveTo>
                  <a:pt x="229" y="176"/>
                </a:moveTo>
                <a:cubicBezTo>
                  <a:pt x="228" y="177"/>
                  <a:pt x="227" y="176"/>
                  <a:pt x="226" y="176"/>
                </a:cubicBezTo>
                <a:cubicBezTo>
                  <a:pt x="223" y="176"/>
                  <a:pt x="220" y="174"/>
                  <a:pt x="218" y="171"/>
                </a:cubicBezTo>
                <a:cubicBezTo>
                  <a:pt x="217" y="171"/>
                  <a:pt x="217" y="171"/>
                  <a:pt x="217" y="170"/>
                </a:cubicBezTo>
                <a:cubicBezTo>
                  <a:pt x="215" y="174"/>
                  <a:pt x="212" y="176"/>
                  <a:pt x="208" y="176"/>
                </a:cubicBezTo>
                <a:cubicBezTo>
                  <a:pt x="201" y="177"/>
                  <a:pt x="196" y="176"/>
                  <a:pt x="193" y="173"/>
                </a:cubicBezTo>
                <a:cubicBezTo>
                  <a:pt x="188" y="178"/>
                  <a:pt x="182" y="179"/>
                  <a:pt x="175" y="179"/>
                </a:cubicBezTo>
                <a:cubicBezTo>
                  <a:pt x="169" y="179"/>
                  <a:pt x="163" y="177"/>
                  <a:pt x="158" y="175"/>
                </a:cubicBezTo>
                <a:cubicBezTo>
                  <a:pt x="156" y="176"/>
                  <a:pt x="153" y="177"/>
                  <a:pt x="151" y="178"/>
                </a:cubicBezTo>
                <a:cubicBezTo>
                  <a:pt x="146" y="180"/>
                  <a:pt x="140" y="179"/>
                  <a:pt x="137" y="176"/>
                </a:cubicBezTo>
                <a:cubicBezTo>
                  <a:pt x="137" y="176"/>
                  <a:pt x="137" y="176"/>
                  <a:pt x="137" y="176"/>
                </a:cubicBezTo>
                <a:cubicBezTo>
                  <a:pt x="136" y="175"/>
                  <a:pt x="135" y="173"/>
                  <a:pt x="135" y="171"/>
                </a:cubicBezTo>
                <a:cubicBezTo>
                  <a:pt x="132" y="176"/>
                  <a:pt x="128" y="179"/>
                  <a:pt x="124" y="180"/>
                </a:cubicBezTo>
                <a:cubicBezTo>
                  <a:pt x="122" y="181"/>
                  <a:pt x="119" y="181"/>
                  <a:pt x="116" y="181"/>
                </a:cubicBezTo>
                <a:cubicBezTo>
                  <a:pt x="114" y="180"/>
                  <a:pt x="111" y="179"/>
                  <a:pt x="109" y="177"/>
                </a:cubicBezTo>
                <a:cubicBezTo>
                  <a:pt x="108" y="176"/>
                  <a:pt x="107" y="175"/>
                  <a:pt x="106" y="174"/>
                </a:cubicBezTo>
                <a:cubicBezTo>
                  <a:pt x="106" y="174"/>
                  <a:pt x="106" y="174"/>
                  <a:pt x="106" y="174"/>
                </a:cubicBezTo>
                <a:cubicBezTo>
                  <a:pt x="101" y="178"/>
                  <a:pt x="97" y="181"/>
                  <a:pt x="92" y="181"/>
                </a:cubicBezTo>
                <a:cubicBezTo>
                  <a:pt x="87" y="180"/>
                  <a:pt x="81" y="179"/>
                  <a:pt x="80" y="167"/>
                </a:cubicBezTo>
                <a:cubicBezTo>
                  <a:pt x="80" y="166"/>
                  <a:pt x="80" y="164"/>
                  <a:pt x="80" y="163"/>
                </a:cubicBezTo>
                <a:cubicBezTo>
                  <a:pt x="78" y="165"/>
                  <a:pt x="76" y="166"/>
                  <a:pt x="74" y="167"/>
                </a:cubicBezTo>
                <a:cubicBezTo>
                  <a:pt x="74" y="168"/>
                  <a:pt x="73" y="168"/>
                  <a:pt x="72" y="169"/>
                </a:cubicBezTo>
                <a:cubicBezTo>
                  <a:pt x="87" y="192"/>
                  <a:pt x="103" y="218"/>
                  <a:pt x="115" y="244"/>
                </a:cubicBezTo>
                <a:cubicBezTo>
                  <a:pt x="128" y="271"/>
                  <a:pt x="137" y="299"/>
                  <a:pt x="139" y="327"/>
                </a:cubicBezTo>
                <a:cubicBezTo>
                  <a:pt x="161" y="327"/>
                  <a:pt x="161" y="327"/>
                  <a:pt x="161" y="327"/>
                </a:cubicBezTo>
                <a:cubicBezTo>
                  <a:pt x="165" y="273"/>
                  <a:pt x="198" y="223"/>
                  <a:pt x="229" y="176"/>
                </a:cubicBezTo>
                <a:close/>
                <a:moveTo>
                  <a:pt x="111" y="157"/>
                </a:moveTo>
                <a:cubicBezTo>
                  <a:pt x="110" y="160"/>
                  <a:pt x="110" y="163"/>
                  <a:pt x="111" y="166"/>
                </a:cubicBezTo>
                <a:cubicBezTo>
                  <a:pt x="111" y="166"/>
                  <a:pt x="112" y="166"/>
                  <a:pt x="112" y="167"/>
                </a:cubicBezTo>
                <a:cubicBezTo>
                  <a:pt x="112" y="168"/>
                  <a:pt x="113" y="170"/>
                  <a:pt x="115" y="171"/>
                </a:cubicBezTo>
                <a:cubicBezTo>
                  <a:pt x="116" y="171"/>
                  <a:pt x="117" y="172"/>
                  <a:pt x="118" y="172"/>
                </a:cubicBezTo>
                <a:cubicBezTo>
                  <a:pt x="119" y="173"/>
                  <a:pt x="121" y="173"/>
                  <a:pt x="122" y="172"/>
                </a:cubicBezTo>
                <a:cubicBezTo>
                  <a:pt x="126" y="171"/>
                  <a:pt x="129" y="167"/>
                  <a:pt x="131" y="158"/>
                </a:cubicBezTo>
                <a:cubicBezTo>
                  <a:pt x="132" y="152"/>
                  <a:pt x="131" y="147"/>
                  <a:pt x="128" y="145"/>
                </a:cubicBezTo>
                <a:cubicBezTo>
                  <a:pt x="126" y="144"/>
                  <a:pt x="125" y="144"/>
                  <a:pt x="124" y="143"/>
                </a:cubicBezTo>
                <a:cubicBezTo>
                  <a:pt x="123" y="143"/>
                  <a:pt x="121" y="143"/>
                  <a:pt x="120" y="143"/>
                </a:cubicBezTo>
                <a:cubicBezTo>
                  <a:pt x="116" y="144"/>
                  <a:pt x="113" y="149"/>
                  <a:pt x="111" y="157"/>
                </a:cubicBezTo>
                <a:close/>
                <a:moveTo>
                  <a:pt x="159" y="165"/>
                </a:moveTo>
                <a:cubicBezTo>
                  <a:pt x="159" y="164"/>
                  <a:pt x="160" y="164"/>
                  <a:pt x="160" y="164"/>
                </a:cubicBezTo>
                <a:cubicBezTo>
                  <a:pt x="163" y="162"/>
                  <a:pt x="165" y="160"/>
                  <a:pt x="167" y="158"/>
                </a:cubicBezTo>
                <a:cubicBezTo>
                  <a:pt x="170" y="156"/>
                  <a:pt x="172" y="153"/>
                  <a:pt x="172" y="150"/>
                </a:cubicBezTo>
                <a:cubicBezTo>
                  <a:pt x="173" y="149"/>
                  <a:pt x="173" y="148"/>
                  <a:pt x="172" y="146"/>
                </a:cubicBezTo>
                <a:cubicBezTo>
                  <a:pt x="172" y="145"/>
                  <a:pt x="171" y="145"/>
                  <a:pt x="170" y="144"/>
                </a:cubicBezTo>
                <a:cubicBezTo>
                  <a:pt x="169" y="143"/>
                  <a:pt x="167" y="143"/>
                  <a:pt x="164" y="143"/>
                </a:cubicBezTo>
                <a:cubicBezTo>
                  <a:pt x="162" y="143"/>
                  <a:pt x="160" y="145"/>
                  <a:pt x="159" y="146"/>
                </a:cubicBezTo>
                <a:cubicBezTo>
                  <a:pt x="158" y="148"/>
                  <a:pt x="157" y="150"/>
                  <a:pt x="157" y="152"/>
                </a:cubicBezTo>
                <a:cubicBezTo>
                  <a:pt x="157" y="152"/>
                  <a:pt x="157" y="152"/>
                  <a:pt x="157" y="152"/>
                </a:cubicBezTo>
                <a:cubicBezTo>
                  <a:pt x="156" y="154"/>
                  <a:pt x="156" y="156"/>
                  <a:pt x="157" y="158"/>
                </a:cubicBezTo>
                <a:cubicBezTo>
                  <a:pt x="157" y="161"/>
                  <a:pt x="158" y="163"/>
                  <a:pt x="159" y="165"/>
                </a:cubicBezTo>
                <a:close/>
                <a:moveTo>
                  <a:pt x="130" y="445"/>
                </a:moveTo>
                <a:cubicBezTo>
                  <a:pt x="125" y="445"/>
                  <a:pt x="122" y="441"/>
                  <a:pt x="122" y="436"/>
                </a:cubicBezTo>
                <a:cubicBezTo>
                  <a:pt x="122" y="432"/>
                  <a:pt x="125" y="428"/>
                  <a:pt x="130" y="428"/>
                </a:cubicBezTo>
                <a:cubicBezTo>
                  <a:pt x="170" y="428"/>
                  <a:pt x="170" y="428"/>
                  <a:pt x="170" y="428"/>
                </a:cubicBezTo>
                <a:cubicBezTo>
                  <a:pt x="175" y="428"/>
                  <a:pt x="179" y="432"/>
                  <a:pt x="179" y="436"/>
                </a:cubicBezTo>
                <a:cubicBezTo>
                  <a:pt x="179" y="441"/>
                  <a:pt x="175" y="445"/>
                  <a:pt x="170" y="445"/>
                </a:cubicBezTo>
                <a:cubicBezTo>
                  <a:pt x="130" y="445"/>
                  <a:pt x="130" y="445"/>
                  <a:pt x="130" y="445"/>
                </a:cubicBezTo>
                <a:close/>
                <a:moveTo>
                  <a:pt x="101" y="397"/>
                </a:moveTo>
                <a:cubicBezTo>
                  <a:pt x="96" y="397"/>
                  <a:pt x="92" y="393"/>
                  <a:pt x="92" y="389"/>
                </a:cubicBezTo>
                <a:cubicBezTo>
                  <a:pt x="92" y="384"/>
                  <a:pt x="96" y="380"/>
                  <a:pt x="101" y="380"/>
                </a:cubicBezTo>
                <a:cubicBezTo>
                  <a:pt x="200" y="380"/>
                  <a:pt x="200" y="380"/>
                  <a:pt x="200" y="380"/>
                </a:cubicBezTo>
                <a:cubicBezTo>
                  <a:pt x="204" y="380"/>
                  <a:pt x="208" y="384"/>
                  <a:pt x="208" y="389"/>
                </a:cubicBezTo>
                <a:cubicBezTo>
                  <a:pt x="208" y="393"/>
                  <a:pt x="204" y="397"/>
                  <a:pt x="200" y="397"/>
                </a:cubicBezTo>
                <a:cubicBezTo>
                  <a:pt x="101" y="397"/>
                  <a:pt x="101" y="397"/>
                  <a:pt x="101" y="397"/>
                </a:cubicBezTo>
                <a:close/>
                <a:moveTo>
                  <a:pt x="101" y="373"/>
                </a:moveTo>
                <a:cubicBezTo>
                  <a:pt x="96" y="373"/>
                  <a:pt x="92" y="369"/>
                  <a:pt x="92" y="365"/>
                </a:cubicBezTo>
                <a:cubicBezTo>
                  <a:pt x="92" y="360"/>
                  <a:pt x="96" y="356"/>
                  <a:pt x="101" y="356"/>
                </a:cubicBezTo>
                <a:cubicBezTo>
                  <a:pt x="200" y="356"/>
                  <a:pt x="200" y="356"/>
                  <a:pt x="200" y="356"/>
                </a:cubicBezTo>
                <a:cubicBezTo>
                  <a:pt x="204" y="356"/>
                  <a:pt x="208" y="360"/>
                  <a:pt x="208" y="365"/>
                </a:cubicBezTo>
                <a:cubicBezTo>
                  <a:pt x="208" y="369"/>
                  <a:pt x="204" y="373"/>
                  <a:pt x="200" y="373"/>
                </a:cubicBezTo>
                <a:lnTo>
                  <a:pt x="101" y="373"/>
                </a:lnTo>
                <a:close/>
              </a:path>
            </a:pathLst>
          </a:custGeom>
          <a:solidFill>
            <a:schemeClr val="bg1"/>
          </a:solidFill>
          <a:ln>
            <a:noFill/>
          </a:ln>
        </p:spPr>
        <p:txBody>
          <a:bodyPr vert="horz" wrap="square" lIns="121917" tIns="60958" rIns="121917" bIns="60958" numCol="1" anchor="t" anchorCtr="0" compatLnSpc="1"/>
          <a:lstStyle/>
          <a:p>
            <a:pPr defTabSz="1131570">
              <a:defRPr/>
            </a:pPr>
            <a:endParaRPr lang="zh-CN" altLang="en-US" sz="2300" kern="0">
              <a:solidFill>
                <a:srgbClr val="000000"/>
              </a:solidFill>
              <a:latin typeface="Calibri" panose="020F0502020204030204"/>
              <a:ea typeface="宋体" panose="02010600030101010101" pitchFamily="2" charset="-122"/>
            </a:endParaRPr>
          </a:p>
        </p:txBody>
      </p:sp>
      <p:sp>
        <p:nvSpPr>
          <p:cNvPr id="2" name="文本框 1"/>
          <p:cNvSpPr txBox="1"/>
          <p:nvPr/>
        </p:nvSpPr>
        <p:spPr>
          <a:xfrm>
            <a:off x="7031355" y="995045"/>
            <a:ext cx="4692650" cy="1657985"/>
          </a:xfrm>
          <a:prstGeom prst="rect">
            <a:avLst/>
          </a:prstGeom>
          <a:noFill/>
        </p:spPr>
        <p:txBody>
          <a:bodyPr wrap="square" rtlCol="0">
            <a:noAutofit/>
          </a:bodyPr>
          <a:p>
            <a:r>
              <a:rPr lang="zh-CN" altLang="en-US"/>
              <a:t>农业是人类生存和发展的基础，随着社会经济的发展和科技的进步，传统农业已逐渐向智慧农业转变。智慧农业利用先进的信息技术和互联网技术，提高农业生产效率、优化资源配置、提升农产品品质，对农业可持续发展具有重要意义。</a:t>
            </a:r>
            <a:endParaRPr lang="zh-CN" altLang="en-US"/>
          </a:p>
        </p:txBody>
      </p:sp>
      <p:sp>
        <p:nvSpPr>
          <p:cNvPr id="3" name="文本框 2"/>
          <p:cNvSpPr txBox="1"/>
          <p:nvPr/>
        </p:nvSpPr>
        <p:spPr>
          <a:xfrm>
            <a:off x="9059545" y="2879090"/>
            <a:ext cx="2664460" cy="1220470"/>
          </a:xfrm>
          <a:prstGeom prst="rect">
            <a:avLst/>
          </a:prstGeom>
          <a:noFill/>
        </p:spPr>
        <p:txBody>
          <a:bodyPr wrap="square" rtlCol="0">
            <a:noAutofit/>
          </a:bodyPr>
          <a:p>
            <a:r>
              <a:rPr lang="zh-CN" altLang="en-US"/>
              <a:t>然而，传统的智慧农业专家远程指导系统存在一些问题。首先，传统系统的农户体验不佳，操作繁琐，影响了农户的使用体验。其次，传统系统的扩展性差，难以满足不断增长的农户需求和系统功能扩展的需求。因此，如何设计和实现一种功能强大、性能稳定的智慧农业专家远程指导系统成为当前亟待解决的问题。</a:t>
            </a:r>
            <a:endParaRPr lang="zh-CN" altLang="en-US"/>
          </a:p>
        </p:txBody>
      </p:sp>
      <p:sp>
        <p:nvSpPr>
          <p:cNvPr id="100" name="文本框 99"/>
          <p:cNvSpPr txBox="1"/>
          <p:nvPr/>
        </p:nvSpPr>
        <p:spPr>
          <a:xfrm>
            <a:off x="361315" y="2551430"/>
            <a:ext cx="2995930" cy="1982470"/>
          </a:xfrm>
          <a:prstGeom prst="rect">
            <a:avLst/>
          </a:prstGeom>
          <a:noFill/>
          <a:ln w="9525">
            <a:noFill/>
          </a:ln>
        </p:spPr>
        <p:txBody>
          <a:bodyPr>
            <a:noAutofit/>
          </a:bodyPr>
          <a:p>
            <a:pPr indent="0"/>
            <a:r>
              <a:rPr lang="zh-CN" b="0">
                <a:latin typeface="Times New Roman" panose="02020603050405020304" charset="0"/>
                <a:ea typeface="宋体" panose="02010600030101010101" pitchFamily="2" charset="-122"/>
              </a:rPr>
              <a:t>本文选题的目的在于针对传统智慧农业专家远程指导系统存在的问题和不足，设计和实现一种功能强大、性能稳定的智慧农业专家远程指导系统，以提升农业生产的效率和质量，推动智慧农业的发展。</a:t>
            </a:r>
            <a:endParaRPr lang="zh-CN"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9182100" y="5516930"/>
            <a:ext cx="3009900" cy="487718"/>
            <a:chOff x="9182100" y="5135930"/>
            <a:chExt cx="3009900" cy="487718"/>
          </a:xfrm>
        </p:grpSpPr>
        <p:sp>
          <p:nvSpPr>
            <p:cNvPr id="21" name="矩形: 圆角 20"/>
            <p:cNvSpPr/>
            <p:nvPr/>
          </p:nvSpPr>
          <p:spPr>
            <a:xfrm>
              <a:off x="10312301" y="5135930"/>
              <a:ext cx="1879699"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9182100" y="5380763"/>
              <a:ext cx="3009900" cy="242885"/>
            </a:xfrm>
            <a:prstGeom prst="roundRect">
              <a:avLst/>
            </a:prstGeom>
            <a:solidFill>
              <a:srgbClr val="CBD2C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p:nvSpPr>
        <p:spPr>
          <a:xfrm>
            <a:off x="283368" y="5440291"/>
            <a:ext cx="1128713" cy="1128713"/>
          </a:xfrm>
          <a:prstGeom prst="ellipse">
            <a:avLst/>
          </a:prstGeom>
          <a:solidFill>
            <a:srgbClr val="B7BCC0">
              <a:alpha val="1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0" y="86054"/>
            <a:ext cx="3095443" cy="703267"/>
            <a:chOff x="0" y="86054"/>
            <a:chExt cx="3095443" cy="703267"/>
          </a:xfrm>
        </p:grpSpPr>
        <p:sp>
          <p:nvSpPr>
            <p:cNvPr id="3" name="文本框 2"/>
            <p:cNvSpPr txBox="1"/>
            <p:nvPr/>
          </p:nvSpPr>
          <p:spPr>
            <a:xfrm>
              <a:off x="341355" y="86054"/>
              <a:ext cx="2698175" cy="52322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选题背景与意义</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7" name="文本框 6"/>
          <p:cNvSpPr txBox="1"/>
          <p:nvPr/>
        </p:nvSpPr>
        <p:spPr>
          <a:xfrm>
            <a:off x="283210" y="939165"/>
            <a:ext cx="3611880" cy="602615"/>
          </a:xfrm>
          <a:prstGeom prst="rect">
            <a:avLst/>
          </a:prstGeom>
          <a:noFill/>
        </p:spPr>
        <p:txBody>
          <a:bodyPr wrap="square" rtlCol="0">
            <a:noAutofit/>
          </a:bodyPr>
          <a:lstStyle/>
          <a:p>
            <a:pPr algn="ctr"/>
            <a:r>
              <a:rPr lang="zh-CN" altLang="en-US" sz="2800" b="1" dirty="0">
                <a:solidFill>
                  <a:schemeClr val="tx1">
                    <a:lumMod val="50000"/>
                    <a:lumOff val="50000"/>
                  </a:schemeClr>
                </a:solidFill>
                <a:latin typeface="微软雅黑" panose="020B0503020204020204" charset="-122"/>
                <a:ea typeface="微软雅黑" panose="020B0503020204020204" charset="-122"/>
                <a:sym typeface="+mn-ea"/>
              </a:rPr>
              <a:t> 研究的内容及方法：</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53" name="文本框 52"/>
          <p:cNvSpPr txBox="1"/>
          <p:nvPr/>
        </p:nvSpPr>
        <p:spPr>
          <a:xfrm>
            <a:off x="8381365" y="1763395"/>
            <a:ext cx="428625" cy="2286000"/>
          </a:xfrm>
          <a:prstGeom prst="rect">
            <a:avLst/>
          </a:prstGeom>
          <a:noFill/>
        </p:spPr>
        <p:txBody>
          <a:bodyPr vert="eaVert" wrap="square" rtlCol="0">
            <a:spAutoFit/>
          </a:bodyPr>
          <a:lstStyle/>
          <a:p>
            <a:r>
              <a:rPr lang="zh-CN" altLang="en-US" sz="1600" spc="150">
                <a:solidFill>
                  <a:sysClr val="window" lastClr="FFFFFF"/>
                </a:solidFill>
                <a:latin typeface="Arial" panose="020B0604020202020204" pitchFamily="34" charset="0"/>
                <a:ea typeface="微软雅黑" panose="020B0503020204020204" charset="-122"/>
              </a:rPr>
              <a:t>苹果与安卓</a:t>
            </a:r>
            <a:endParaRPr lang="zh-CN" altLang="en-US" sz="1600" spc="150">
              <a:solidFill>
                <a:sysClr val="window" lastClr="FFFFFF"/>
              </a:solidFill>
              <a:latin typeface="Arial" panose="020B0604020202020204" pitchFamily="34" charset="0"/>
              <a:ea typeface="微软雅黑" panose="020B0503020204020204" charset="-122"/>
            </a:endParaRPr>
          </a:p>
        </p:txBody>
      </p:sp>
      <p:sp>
        <p:nvSpPr>
          <p:cNvPr id="55" name="下箭头 6"/>
          <p:cNvSpPr/>
          <p:nvPr>
            <p:custDataLst>
              <p:tags r:id="rId1"/>
            </p:custDataLst>
          </p:nvPr>
        </p:nvSpPr>
        <p:spPr>
          <a:xfrm rot="1800000">
            <a:off x="9499600" y="4211320"/>
            <a:ext cx="1694815" cy="871220"/>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占用手机内存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100" name="文本框 99"/>
          <p:cNvSpPr txBox="1"/>
          <p:nvPr/>
        </p:nvSpPr>
        <p:spPr>
          <a:xfrm>
            <a:off x="1357630" y="1504950"/>
            <a:ext cx="9940925" cy="3935095"/>
          </a:xfrm>
          <a:prstGeom prst="rect">
            <a:avLst/>
          </a:prstGeom>
          <a:noFill/>
          <a:ln w="9525">
            <a:noFill/>
          </a:ln>
        </p:spPr>
        <p:txBody>
          <a:bodyPr>
            <a:noAutofit/>
          </a:bodyPr>
          <a:p>
            <a:pPr indent="304800"/>
            <a:r>
              <a:rPr lang="zh-CN" altLang="en-US" b="0">
                <a:latin typeface="Times New Roman" panose="02020603050405020304" charset="0"/>
                <a:ea typeface="宋体" panose="02010600030101010101" pitchFamily="2" charset="-122"/>
              </a:rPr>
              <a:t>本研究的内容主要包括系统需求分析、系统设计、系统实现和系统测试四个方面。</a:t>
            </a:r>
            <a:endParaRPr lang="zh-CN" altLang="en-US" b="0">
              <a:latin typeface="Times New Roman" panose="02020603050405020304" charset="0"/>
              <a:ea typeface="宋体" panose="02010600030101010101" pitchFamily="2" charset="-122"/>
            </a:endParaRPr>
          </a:p>
          <a:p>
            <a:pPr indent="304800"/>
            <a:r>
              <a:rPr lang="zh-CN" altLang="en-US" b="0">
                <a:latin typeface="Times New Roman" panose="02020603050405020304" charset="0"/>
                <a:ea typeface="宋体" panose="02010600030101010101" pitchFamily="2" charset="-122"/>
              </a:rPr>
              <a:t>首先，系统需求分析阶段将对传统智慧农业专家远程指导系统的功能和性能进行详细分析，明确系统的基本需求和农户需求。在需求分析的基础上，将制定系统的功能模块和实现方法，为后续的系统设计提供基础。</a:t>
            </a:r>
            <a:endParaRPr lang="zh-CN" altLang="en-US" b="0">
              <a:latin typeface="Times New Roman" panose="02020603050405020304" charset="0"/>
              <a:ea typeface="宋体" panose="02010600030101010101" pitchFamily="2" charset="-122"/>
            </a:endParaRPr>
          </a:p>
          <a:p>
            <a:pPr indent="304800"/>
            <a:r>
              <a:rPr lang="zh-CN" altLang="en-US" b="0">
                <a:latin typeface="Times New Roman" panose="02020603050405020304" charset="0"/>
                <a:ea typeface="宋体" panose="02010600030101010101" pitchFamily="2" charset="-122"/>
              </a:rPr>
              <a:t>其次，系统设计阶段将根据需求分析的结果，设计系统的整体架构和各个模块的详细设计方案。特别是将重点设计系统的农户界面，保证系统操作简单、界面友好，提高农户体验。同时，系统设计还将考虑系统的可扩展性和可维护性，确保系统能够满足不断变化的需求和环境[7]。</a:t>
            </a:r>
            <a:endParaRPr lang="zh-CN" altLang="en-US" b="0">
              <a:latin typeface="Times New Roman" panose="02020603050405020304" charset="0"/>
              <a:ea typeface="宋体" panose="02010600030101010101" pitchFamily="2" charset="-122"/>
            </a:endParaRPr>
          </a:p>
          <a:p>
            <a:pPr indent="304800"/>
            <a:r>
              <a:rPr lang="zh-CN" altLang="en-US" b="0">
                <a:latin typeface="Times New Roman" panose="02020603050405020304" charset="0"/>
                <a:ea typeface="宋体" panose="02010600030101010101" pitchFamily="2" charset="-122"/>
              </a:rPr>
              <a:t>接着，系统实现阶段将根据设计方案，使用SpringBoot框架进行系统的具体实现。在实现过程中，将注重代码质量和系统性能的优化，保证系统能够稳定运行并具有较好的性能。</a:t>
            </a:r>
            <a:endParaRPr lang="zh-CN" altLang="en-US" b="0">
              <a:latin typeface="Times New Roman" panose="02020603050405020304" charset="0"/>
              <a:ea typeface="宋体" panose="02010600030101010101" pitchFamily="2" charset="-122"/>
            </a:endParaRPr>
          </a:p>
          <a:p>
            <a:pPr indent="304800"/>
            <a:r>
              <a:rPr lang="zh-CN" altLang="en-US" b="0">
                <a:latin typeface="Times New Roman" panose="02020603050405020304" charset="0"/>
                <a:ea typeface="宋体" panose="02010600030101010101" pitchFamily="2" charset="-122"/>
              </a:rPr>
              <a:t>最后，系统测试阶段将对系统进行全面测试，包括功能测试、性能测试、安全性测试等，确保系统的功能和性能达到预期要求。同时，还将邀请相关农户参与测试，收集农户反馈意见，进一步优化系统。</a:t>
            </a:r>
            <a:endParaRPr lang="zh-CN" altLang="en-US" b="0">
              <a:latin typeface="Times New Roman" panose="02020603050405020304" charset="0"/>
              <a:ea typeface="宋体" panose="02010600030101010101" pitchFamily="2" charset="-122"/>
            </a:endParaRPr>
          </a:p>
          <a:p>
            <a:pPr indent="304800"/>
            <a:r>
              <a:rPr lang="zh-CN" altLang="en-US" b="0">
                <a:latin typeface="Times New Roman" panose="02020603050405020304" charset="0"/>
                <a:ea typeface="宋体" panose="02010600030101010101" pitchFamily="2" charset="-122"/>
              </a:rPr>
              <a:t>本研究将采用文献资料法、实证分析法和实验研究法等多种研究方法，综合运用定性和定量分析，对智慧农业专家远程指导系统进行深入研究。通过以上方法的综合运用，本研究将全面、系统地分析智慧农业专家远程指导系统的问题和挑战，提出解决方案，并通过实际系统实现和测试验证方案的有效性和可行性。</a:t>
            </a:r>
            <a:endParaRPr lang="zh-CN" altLang="en-US"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0" y="86054"/>
            <a:ext cx="3095443" cy="703267"/>
            <a:chOff x="0" y="86054"/>
            <a:chExt cx="3095443" cy="703267"/>
          </a:xfrm>
        </p:grpSpPr>
        <p:sp>
          <p:nvSpPr>
            <p:cNvPr id="3" name="文本框 2"/>
            <p:cNvSpPr txBox="1"/>
            <p:nvPr/>
          </p:nvSpPr>
          <p:spPr>
            <a:xfrm>
              <a:off x="341355" y="86054"/>
              <a:ext cx="2698175" cy="523220"/>
            </a:xfrm>
            <a:prstGeom prst="rect">
              <a:avLst/>
            </a:prstGeom>
            <a:noFill/>
          </p:spPr>
          <p:txBody>
            <a:bodyPr wrap="none" rtlCol="0">
              <a:spAutoFit/>
            </a:bodyPr>
            <a:lstStyle/>
            <a:p>
              <a:r>
                <a:rPr lang="zh-CN" altLang="en-US" sz="2800" b="1" dirty="0">
                  <a:solidFill>
                    <a:schemeClr val="tx1">
                      <a:lumMod val="50000"/>
                      <a:lumOff val="50000"/>
                    </a:schemeClr>
                  </a:solidFill>
                  <a:latin typeface="微软雅黑" panose="020B0503020204020204" charset="-122"/>
                  <a:ea typeface="微软雅黑" panose="020B0503020204020204" charset="-122"/>
                </a:rPr>
                <a:t>选题背景与意义</a:t>
              </a:r>
              <a:endParaRPr lang="zh-CN" altLang="en-US" sz="2800" b="1" dirty="0">
                <a:solidFill>
                  <a:schemeClr val="tx1">
                    <a:lumMod val="50000"/>
                    <a:lumOff val="50000"/>
                  </a:schemeClr>
                </a:solidFill>
                <a:latin typeface="微软雅黑" panose="020B0503020204020204" charset="-122"/>
                <a:ea typeface="微软雅黑" panose="020B0503020204020204" charset="-122"/>
              </a:endParaRPr>
            </a:p>
          </p:txBody>
        </p:sp>
        <p:sp>
          <p:nvSpPr>
            <p:cNvPr id="30" name="等腰三角形 29"/>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53" name="文本框 52"/>
          <p:cNvSpPr txBox="1"/>
          <p:nvPr/>
        </p:nvSpPr>
        <p:spPr>
          <a:xfrm>
            <a:off x="8381365" y="1763395"/>
            <a:ext cx="428625" cy="2286000"/>
          </a:xfrm>
          <a:prstGeom prst="rect">
            <a:avLst/>
          </a:prstGeom>
          <a:noFill/>
        </p:spPr>
        <p:txBody>
          <a:bodyPr vert="eaVert" wrap="square" rtlCol="0">
            <a:spAutoFit/>
          </a:bodyPr>
          <a:lstStyle/>
          <a:p>
            <a:r>
              <a:rPr lang="zh-CN" altLang="en-US" sz="1600" spc="150">
                <a:solidFill>
                  <a:sysClr val="window" lastClr="FFFFFF"/>
                </a:solidFill>
                <a:latin typeface="Arial" panose="020B0604020202020204" pitchFamily="34" charset="0"/>
                <a:ea typeface="微软雅黑" panose="020B0503020204020204" charset="-122"/>
              </a:rPr>
              <a:t>苹果与安卓</a:t>
            </a:r>
            <a:endParaRPr lang="zh-CN" altLang="en-US" sz="1600" spc="150">
              <a:solidFill>
                <a:sysClr val="window" lastClr="FFFFFF"/>
              </a:solidFill>
              <a:latin typeface="Arial" panose="020B0604020202020204" pitchFamily="34" charset="0"/>
              <a:ea typeface="微软雅黑" panose="020B0503020204020204" charset="-122"/>
            </a:endParaRPr>
          </a:p>
        </p:txBody>
      </p:sp>
      <p:sp>
        <p:nvSpPr>
          <p:cNvPr id="54" name="下箭头 8"/>
          <p:cNvSpPr/>
          <p:nvPr>
            <p:custDataLst>
              <p:tags r:id="rId1"/>
            </p:custDataLst>
          </p:nvPr>
        </p:nvSpPr>
        <p:spPr>
          <a:xfrm rot="19800000">
            <a:off x="6339410" y="4147340"/>
            <a:ext cx="1438020" cy="871527"/>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开发成本高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55" name="下箭头 6"/>
          <p:cNvSpPr/>
          <p:nvPr>
            <p:custDataLst>
              <p:tags r:id="rId2"/>
            </p:custDataLst>
          </p:nvPr>
        </p:nvSpPr>
        <p:spPr>
          <a:xfrm rot="1800000">
            <a:off x="9499600" y="4211320"/>
            <a:ext cx="1694815" cy="871220"/>
          </a:xfrm>
          <a:prstGeom prst="rect">
            <a:avLst/>
          </a:prstGeom>
        </p:spPr>
        <p:style>
          <a:lnRef idx="0">
            <a:scrgbClr r="0" g="0" b="0"/>
          </a:lnRef>
          <a:fillRef idx="0">
            <a:scrgbClr r="0" g="0" b="0"/>
          </a:fillRef>
          <a:effectRef idx="0">
            <a:scrgbClr r="0" g="0" b="0"/>
          </a:effectRef>
          <a:fontRef idx="minor">
            <a:sysClr val="window" lastClr="FFFFFF"/>
          </a:fontRef>
        </p:style>
        <p:txBody>
          <a:bodyPr spcFirstLastPara="0" vert="horz" wrap="square" lIns="91440" tIns="45720" rIns="91440" bIns="45720" numCol="1" spcCol="1270" anchor="ctr" anchorCtr="0">
            <a:normAutofit/>
          </a:bodyPr>
          <a:lstStyle/>
          <a:p>
            <a:pPr algn="ctr">
              <a:lnSpc>
                <a:spcPct val="120000"/>
              </a:lnSpc>
            </a:pPr>
            <a:r>
              <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rPr>
              <a:t>占用手机内存</a:t>
            </a:r>
            <a:endParaRPr lang="zh-CN" altLang="en-US" sz="1600" spc="15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aphicFrame>
        <p:nvGraphicFramePr>
          <p:cNvPr id="13" name="图示 12"/>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13"/>
          <p:cNvSpPr/>
          <p:nvPr/>
        </p:nvSpPr>
        <p:spPr>
          <a:xfrm>
            <a:off x="4951913" y="6182606"/>
            <a:ext cx="1400119" cy="368300"/>
          </a:xfrm>
          <a:prstGeom prst="rect">
            <a:avLst/>
          </a:prstGeom>
        </p:spPr>
        <p:txBody>
          <a:bodyPr wrap="square">
            <a:spAutoFit/>
          </a:bodyPr>
          <a:lstStyle/>
          <a:p>
            <a:r>
              <a:rPr lang="zh-CN" altLang="en-US" b="1" dirty="0" smtClean="0">
                <a:solidFill>
                  <a:schemeClr val="tx1">
                    <a:lumMod val="50000"/>
                    <a:lumOff val="50000"/>
                  </a:schemeClr>
                </a:solidFill>
                <a:latin typeface="微软雅黑" panose="020B0503020204020204" charset="-122"/>
                <a:ea typeface="微软雅黑" panose="020B0503020204020204" charset="-122"/>
              </a:rPr>
              <a:t>程序优点</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 y="86054"/>
            <a:ext cx="3095444" cy="703267"/>
            <a:chOff x="-1" y="86054"/>
            <a:chExt cx="3095444" cy="703267"/>
          </a:xfrm>
        </p:grpSpPr>
        <p:sp>
          <p:nvSpPr>
            <p:cNvPr id="3" name="文本框 2"/>
            <p:cNvSpPr txBox="1"/>
            <p:nvPr/>
          </p:nvSpPr>
          <p:spPr>
            <a:xfrm>
              <a:off x="341355" y="86054"/>
              <a:ext cx="1605280" cy="521970"/>
            </a:xfrm>
            <a:prstGeom prst="rect">
              <a:avLst/>
            </a:prstGeom>
            <a:noFill/>
          </p:spPr>
          <p:txBody>
            <a:bodyPr wrap="none" rtlCol="0">
              <a:spAutoFit/>
            </a:bodyPr>
            <a:lstStyle/>
            <a:p>
              <a:pPr algn="l"/>
              <a:r>
                <a:rPr lang="zh-CN" altLang="en-US" sz="2800" b="1" dirty="0" smtClean="0">
                  <a:solidFill>
                    <a:schemeClr val="tx1">
                      <a:lumMod val="50000"/>
                      <a:lumOff val="50000"/>
                    </a:schemeClr>
                  </a:solidFill>
                  <a:latin typeface="微软雅黑" panose="020B0503020204020204" charset="-122"/>
                  <a:ea typeface="微软雅黑" panose="020B0503020204020204" charset="-122"/>
                </a:rPr>
                <a:t>运行环境</a:t>
              </a:r>
              <a:endParaRPr lang="zh-CN" altLang="en-US" sz="2800" b="1"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4" name="等腰三角形 3"/>
            <p:cNvSpPr/>
            <p:nvPr/>
          </p:nvSpPr>
          <p:spPr>
            <a:xfrm rot="5400000">
              <a:off x="-37929" y="207284"/>
              <a:ext cx="458969" cy="383112"/>
            </a:xfrm>
            <a:prstGeom prst="triangle">
              <a:avLst/>
            </a:prstGeom>
            <a:solidFill>
              <a:srgbClr val="B7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01088" y="543100"/>
              <a:ext cx="2794355" cy="246221"/>
            </a:xfrm>
            <a:prstGeom prst="rect">
              <a:avLst/>
            </a:prstGeom>
            <a:noFill/>
          </p:spPr>
          <p:txBody>
            <a:bodyPr wrap="none" rtlCol="0">
              <a:spAutoFit/>
            </a:bodyPr>
            <a:lstStyle/>
            <a:p>
              <a:r>
                <a:rPr lang="en-US" altLang="zh-CN" sz="1000" dirty="0">
                  <a:solidFill>
                    <a:schemeClr val="tx1">
                      <a:lumMod val="50000"/>
                      <a:lumOff val="50000"/>
                    </a:schemeClr>
                  </a:solidFill>
                  <a:latin typeface="微软雅黑 Light" panose="020B0502040204020203" pitchFamily="34" charset="-122"/>
                  <a:ea typeface="微软雅黑 Light" panose="020B0502040204020203" pitchFamily="34" charset="-122"/>
                </a:rPr>
                <a:t>The background and significance of the topic</a:t>
              </a:r>
              <a:endParaRPr lang="zh-CN" altLang="en-US" sz="100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cxnSp>
        <p:nvCxnSpPr>
          <p:cNvPr id="24" name="直接连接符 23"/>
          <p:cNvCxnSpPr/>
          <p:nvPr/>
        </p:nvCxnSpPr>
        <p:spPr>
          <a:xfrm>
            <a:off x="1066800" y="6010275"/>
            <a:ext cx="10391775" cy="0"/>
          </a:xfrm>
          <a:prstGeom prst="line">
            <a:avLst/>
          </a:prstGeom>
          <a:ln w="12700">
            <a:solidFill>
              <a:srgbClr val="CBD2CB"/>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809912" y="3161284"/>
            <a:ext cx="664989" cy="664989"/>
          </a:xfrm>
          <a:prstGeom prst="ellipse">
            <a:avLst/>
          </a:prstGeom>
          <a:solidFill>
            <a:srgbClr val="EBE4D4">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图示 16"/>
          <p:cNvGraphicFramePr/>
          <p:nvPr/>
        </p:nvGraphicFramePr>
        <p:xfrm>
          <a:off x="7481824" y="1438656"/>
          <a:ext cx="1198880" cy="303580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0" name="文本框 99"/>
          <p:cNvSpPr txBox="1"/>
          <p:nvPr/>
        </p:nvSpPr>
        <p:spPr>
          <a:xfrm>
            <a:off x="1191895" y="1305560"/>
            <a:ext cx="9110980" cy="4334510"/>
          </a:xfrm>
          <a:prstGeom prst="rect">
            <a:avLst/>
          </a:prstGeom>
          <a:noFill/>
          <a:ln w="9525">
            <a:noFill/>
          </a:ln>
        </p:spPr>
        <p:txBody>
          <a:bodyPr>
            <a:noAutofit/>
          </a:bodyPr>
          <a:p>
            <a:pPr indent="304800"/>
            <a:r>
              <a:rPr lang="zh-CN" b="0">
                <a:solidFill>
                  <a:srgbClr val="000000"/>
                </a:solidFill>
                <a:ea typeface="宋体" panose="02010600030101010101" pitchFamily="2" charset="-122"/>
              </a:rPr>
              <a:t>本软件系统运行所需的硬件环境如下。（</a:t>
            </a:r>
            <a:r>
              <a:rPr lang="en-US" b="0">
                <a:solidFill>
                  <a:srgbClr val="000000"/>
                </a:solidFill>
                <a:latin typeface="Times New Roman" panose="02020603050405020304" charset="0"/>
                <a:ea typeface="宋体" panose="02010600030101010101" pitchFamily="2" charset="-122"/>
              </a:rPr>
              <a:t>1</a:t>
            </a:r>
            <a:r>
              <a:rPr lang="zh-CN" b="0">
                <a:solidFill>
                  <a:srgbClr val="000000"/>
                </a:solidFill>
                <a:ea typeface="宋体" panose="02010600030101010101" pitchFamily="2" charset="-122"/>
              </a:rPr>
              <a:t>）主机类型应用服务器：</a:t>
            </a:r>
            <a:r>
              <a:rPr lang="en-US" b="0">
                <a:solidFill>
                  <a:srgbClr val="000000"/>
                </a:solidFill>
                <a:latin typeface="Times New Roman" panose="02020603050405020304" charset="0"/>
                <a:ea typeface="宋体" panose="02010600030101010101" pitchFamily="2" charset="-122"/>
              </a:rPr>
              <a:t>SUN E220</a:t>
            </a:r>
            <a:r>
              <a:rPr lang="zh-CN" b="0">
                <a:solidFill>
                  <a:srgbClr val="000000"/>
                </a:solidFill>
                <a:ea typeface="宋体" panose="02010600030101010101" pitchFamily="2" charset="-122"/>
              </a:rPr>
              <a:t>，单</a:t>
            </a:r>
            <a:r>
              <a:rPr lang="en-US" b="0">
                <a:solidFill>
                  <a:srgbClr val="000000"/>
                </a:solidFill>
                <a:latin typeface="Times New Roman" panose="02020603050405020304" charset="0"/>
                <a:ea typeface="宋体" panose="02010600030101010101" pitchFamily="2" charset="-122"/>
              </a:rPr>
              <a:t>CPU</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1G RAM</a:t>
            </a:r>
            <a:r>
              <a:rPr lang="zh-CN" b="0">
                <a:solidFill>
                  <a:srgbClr val="000000"/>
                </a:solidFill>
                <a:ea typeface="宋体" panose="02010600030101010101" pitchFamily="2" charset="-122"/>
              </a:rPr>
              <a:t>数据库服务器：</a:t>
            </a:r>
            <a:r>
              <a:rPr lang="en-US" b="0">
                <a:solidFill>
                  <a:srgbClr val="000000"/>
                </a:solidFill>
                <a:latin typeface="Times New Roman" panose="02020603050405020304" charset="0"/>
                <a:ea typeface="宋体" panose="02010600030101010101" pitchFamily="2" charset="-122"/>
              </a:rPr>
              <a:t>SUN E220</a:t>
            </a:r>
            <a:r>
              <a:rPr lang="zh-CN" b="0">
                <a:solidFill>
                  <a:srgbClr val="000000"/>
                </a:solidFill>
                <a:ea typeface="宋体" panose="02010600030101010101" pitchFamily="2" charset="-122"/>
              </a:rPr>
              <a:t>，单</a:t>
            </a:r>
            <a:r>
              <a:rPr lang="en-US" b="0">
                <a:solidFill>
                  <a:srgbClr val="000000"/>
                </a:solidFill>
                <a:latin typeface="Times New Roman" panose="02020603050405020304" charset="0"/>
                <a:ea typeface="宋体" panose="02010600030101010101" pitchFamily="2" charset="-122"/>
              </a:rPr>
              <a:t>CPU</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1G RAM</a:t>
            </a:r>
            <a:r>
              <a:rPr lang="zh-CN" b="0">
                <a:solidFill>
                  <a:srgbClr val="000000"/>
                </a:solidFill>
                <a:ea typeface="宋体" panose="02010600030101010101" pitchFamily="2" charset="-122"/>
              </a:rPr>
              <a:t>工作站：</a:t>
            </a:r>
            <a:r>
              <a:rPr lang="en-US" b="0">
                <a:solidFill>
                  <a:srgbClr val="000000"/>
                </a:solidFill>
                <a:latin typeface="Times New Roman" panose="02020603050405020304" charset="0"/>
                <a:ea typeface="宋体" panose="02010600030101010101" pitchFamily="2" charset="-122"/>
              </a:rPr>
              <a:t>LEGEND PC</a:t>
            </a:r>
            <a:r>
              <a:rPr lang="zh-CN" b="0">
                <a:solidFill>
                  <a:srgbClr val="000000"/>
                </a:solidFill>
                <a:ea typeface="宋体" panose="02010600030101010101" pitchFamily="2" charset="-122"/>
              </a:rPr>
              <a:t>，</a:t>
            </a:r>
            <a:r>
              <a:rPr lang="en-US" b="0">
                <a:solidFill>
                  <a:srgbClr val="000000"/>
                </a:solidFill>
                <a:latin typeface="Times New Roman" panose="02020603050405020304" charset="0"/>
                <a:ea typeface="宋体" panose="02010600030101010101" pitchFamily="2" charset="-122"/>
              </a:rPr>
              <a:t>256M RAM</a:t>
            </a:r>
            <a:r>
              <a:rPr lang="zh-CN" b="0">
                <a:solidFill>
                  <a:srgbClr val="000000"/>
                </a:solidFill>
                <a:ea typeface="宋体" panose="02010600030101010101" pitchFamily="2" charset="-122"/>
              </a:rPr>
              <a:t>（</a:t>
            </a:r>
            <a:r>
              <a:rPr lang="en-US" b="0">
                <a:solidFill>
                  <a:srgbClr val="000000"/>
                </a:solidFill>
                <a:latin typeface="Times New Roman" panose="02020603050405020304" charset="0"/>
                <a:ea typeface="宋体" panose="02010600030101010101" pitchFamily="2" charset="-122"/>
              </a:rPr>
              <a:t>2</a:t>
            </a:r>
            <a:r>
              <a:rPr lang="zh-CN" b="0">
                <a:solidFill>
                  <a:srgbClr val="000000"/>
                </a:solidFill>
                <a:ea typeface="宋体" panose="02010600030101010101" pitchFamily="2" charset="-122"/>
              </a:rPr>
              <a:t>）网络类型以太网（</a:t>
            </a:r>
            <a:r>
              <a:rPr lang="en-US" b="0">
                <a:solidFill>
                  <a:srgbClr val="000000"/>
                </a:solidFill>
                <a:latin typeface="Times New Roman" panose="02020603050405020304" charset="0"/>
                <a:ea typeface="宋体" panose="02010600030101010101" pitchFamily="2" charset="-122"/>
              </a:rPr>
              <a:t>3</a:t>
            </a:r>
            <a:r>
              <a:rPr lang="zh-CN" b="0">
                <a:solidFill>
                  <a:srgbClr val="000000"/>
                </a:solidFill>
                <a:ea typeface="宋体" panose="02010600030101010101" pitchFamily="2" charset="-122"/>
              </a:rPr>
              <a:t>）存贮器容量应用服务器：</a:t>
            </a:r>
            <a:r>
              <a:rPr lang="en-US" b="0">
                <a:solidFill>
                  <a:srgbClr val="000000"/>
                </a:solidFill>
                <a:latin typeface="Times New Roman" panose="02020603050405020304" charset="0"/>
                <a:ea typeface="宋体" panose="02010600030101010101" pitchFamily="2" charset="-122"/>
              </a:rPr>
              <a:t>36G</a:t>
            </a:r>
            <a:r>
              <a:rPr lang="zh-CN" b="0">
                <a:solidFill>
                  <a:srgbClr val="000000"/>
                </a:solidFill>
                <a:ea typeface="宋体" panose="02010600030101010101" pitchFamily="2" charset="-122"/>
              </a:rPr>
              <a:t>以上本软件系统运行所需的软件环境如下</a:t>
            </a:r>
            <a:r>
              <a:rPr lang="zh-CN" b="0">
                <a:solidFill>
                  <a:srgbClr val="000000"/>
                </a:solidFill>
                <a:latin typeface="Times New Roman" panose="02020603050405020304" charset="0"/>
                <a:ea typeface="宋体" panose="02010600030101010101" pitchFamily="2" charset="-122"/>
              </a:rPr>
              <a:t>：</a:t>
            </a:r>
            <a:r>
              <a:rPr lang="zh-CN" b="0">
                <a:solidFill>
                  <a:srgbClr val="000000"/>
                </a:solidFill>
                <a:ea typeface="宋体" panose="02010600030101010101" pitchFamily="2" charset="-122"/>
              </a:rPr>
              <a:t>（</a:t>
            </a:r>
            <a:r>
              <a:rPr lang="en-US" b="0">
                <a:solidFill>
                  <a:srgbClr val="000000"/>
                </a:solidFill>
                <a:latin typeface="Times New Roman" panose="02020603050405020304" charset="0"/>
                <a:ea typeface="宋体" panose="02010600030101010101" pitchFamily="2" charset="-122"/>
              </a:rPr>
              <a:t>1</a:t>
            </a:r>
            <a:r>
              <a:rPr lang="zh-CN" b="0">
                <a:solidFill>
                  <a:srgbClr val="000000"/>
                </a:solidFill>
                <a:ea typeface="宋体" panose="02010600030101010101" pitchFamily="2" charset="-122"/>
              </a:rPr>
              <a:t>）操作系统应用服务器：</a:t>
            </a:r>
            <a:r>
              <a:rPr lang="en-US" b="0">
                <a:solidFill>
                  <a:srgbClr val="000000"/>
                </a:solidFill>
                <a:latin typeface="Times New Roman" panose="02020603050405020304" charset="0"/>
                <a:ea typeface="宋体" panose="02010600030101010101" pitchFamily="2" charset="-122"/>
              </a:rPr>
              <a:t>IDEA2022</a:t>
            </a:r>
            <a:r>
              <a:rPr lang="zh-CN" b="0">
                <a:solidFill>
                  <a:srgbClr val="000000"/>
                </a:solidFill>
                <a:ea typeface="宋体" panose="02010600030101010101" pitchFamily="2" charset="-122"/>
              </a:rPr>
              <a:t>以上版本工作站：</a:t>
            </a:r>
            <a:r>
              <a:rPr lang="en-US" b="0">
                <a:solidFill>
                  <a:srgbClr val="000000"/>
                </a:solidFill>
                <a:latin typeface="Times New Roman" panose="02020603050405020304" charset="0"/>
                <a:ea typeface="宋体" panose="02010600030101010101" pitchFamily="2" charset="-122"/>
              </a:rPr>
              <a:t>windows 10</a:t>
            </a:r>
            <a:r>
              <a:rPr lang="zh-CN" b="0">
                <a:solidFill>
                  <a:srgbClr val="000000"/>
                </a:solidFill>
                <a:ea typeface="宋体" panose="02010600030101010101" pitchFamily="2" charset="-122"/>
              </a:rPr>
              <a:t>上（</a:t>
            </a:r>
            <a:r>
              <a:rPr lang="en-US" b="0">
                <a:solidFill>
                  <a:srgbClr val="000000"/>
                </a:solidFill>
                <a:latin typeface="Times New Roman" panose="02020603050405020304" charset="0"/>
                <a:ea typeface="宋体" panose="02010600030101010101" pitchFamily="2" charset="-122"/>
              </a:rPr>
              <a:t>2</a:t>
            </a:r>
            <a:r>
              <a:rPr lang="zh-CN" b="0">
                <a:solidFill>
                  <a:srgbClr val="000000"/>
                </a:solidFill>
                <a:ea typeface="宋体" panose="02010600030101010101" pitchFamily="2" charset="-122"/>
              </a:rPr>
              <a:t>）数据库管理系统</a:t>
            </a:r>
            <a:r>
              <a:rPr lang="en-US" b="0">
                <a:solidFill>
                  <a:srgbClr val="000000"/>
                </a:solidFill>
                <a:latin typeface="Times New Roman" panose="02020603050405020304" charset="0"/>
                <a:ea typeface="宋体" panose="02010600030101010101" pitchFamily="2" charset="-122"/>
              </a:rPr>
              <a:t>MySQL5.7</a:t>
            </a:r>
            <a:endParaRPr lang="en-US" altLang="en-US" b="0">
              <a:solidFill>
                <a:srgbClr val="000000"/>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2</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3" name="直接连接符 2"/>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2621280" cy="829945"/>
          </a:xfrm>
          <a:prstGeom prst="rect">
            <a:avLst/>
          </a:prstGeom>
          <a:noFill/>
        </p:spPr>
        <p:txBody>
          <a:bodyPr wrap="none" rtlCol="0">
            <a:spAutoFit/>
          </a:bodyPr>
          <a:lstStyle/>
          <a:p>
            <a:pPr algn="l"/>
            <a:r>
              <a:rPr lang="zh-CN" altLang="en-US" sz="4800" b="1" dirty="0" smtClean="0">
                <a:solidFill>
                  <a:srgbClr val="314371"/>
                </a:solidFill>
                <a:latin typeface="微软雅黑" panose="020B0503020204020204" charset="-122"/>
                <a:ea typeface="微软雅黑" panose="020B0503020204020204" charset="-122"/>
                <a:sym typeface="+mn-ea"/>
              </a:rPr>
              <a:t>技术介绍</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6"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7"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6052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技术介绍</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00" name="文本框 99"/>
          <p:cNvSpPr txBox="1"/>
          <p:nvPr/>
        </p:nvSpPr>
        <p:spPr>
          <a:xfrm>
            <a:off x="2092960" y="1888490"/>
            <a:ext cx="7492365" cy="3469005"/>
          </a:xfrm>
          <a:prstGeom prst="rect">
            <a:avLst/>
          </a:prstGeom>
          <a:noFill/>
          <a:ln w="9525">
            <a:noFill/>
          </a:ln>
        </p:spPr>
        <p:txBody>
          <a:bodyPr>
            <a:noAutofit/>
          </a:bodyPr>
          <a:p>
            <a:pPr indent="304800"/>
            <a:r>
              <a:rPr b="0">
                <a:latin typeface="Times New Roman" panose="02020603050405020304" charset="0"/>
                <a:ea typeface="宋体" panose="02010600030101010101" pitchFamily="2" charset="-122"/>
              </a:rPr>
              <a:t>本系统主要采用了Java、Spring Boot、Vue框架以及MySQL数据库进行构建。Java作为后端开发语言，具有面向对象、类基础的特点，适合构建复杂的应用程序。Spring Boot框架提供了便捷的工具和服务，极大地提高了基于Spring的应用开发效率和质量。Vue框架作为前端开发框架，具有简洁易用的特点，能够快速构建农户界面。MySQL数据库为系统提供数据存储和管理的功能，具有高性能和可靠性。这些技术的结合，为系统的开发和运行提供了强大的支持。</a:t>
            </a:r>
            <a:endParaRPr b="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离页连接符 1"/>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3</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3" name="直接连接符 2"/>
          <p:cNvCxnSpPr/>
          <p:nvPr/>
        </p:nvCxnSpPr>
        <p:spPr>
          <a:xfrm>
            <a:off x="3975100" y="2781587"/>
            <a:ext cx="6388100" cy="0"/>
          </a:xfrm>
          <a:prstGeom prst="line">
            <a:avLst/>
          </a:prstGeom>
          <a:noFill/>
          <a:ln w="12700" cap="flat" cmpd="sng" algn="ctr">
            <a:solidFill>
              <a:srgbClr val="314371"/>
            </a:solidFill>
            <a:prstDash val="solid"/>
            <a:miter lim="800000"/>
          </a:ln>
          <a:effectLst/>
        </p:spPr>
      </p:cxnSp>
      <p:sp>
        <p:nvSpPr>
          <p:cNvPr id="4" name="文本框 32"/>
          <p:cNvSpPr txBox="1"/>
          <p:nvPr/>
        </p:nvSpPr>
        <p:spPr>
          <a:xfrm>
            <a:off x="4472126" y="1945742"/>
            <a:ext cx="26212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系统设计</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5"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6"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23164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功能结构设计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graphicFrame>
        <p:nvGraphicFramePr>
          <p:cNvPr id="-2147482620" name="对象 -2147482621"/>
          <p:cNvGraphicFramePr>
            <a:graphicFrameLocks noChangeAspect="1"/>
          </p:cNvGraphicFramePr>
          <p:nvPr/>
        </p:nvGraphicFramePr>
        <p:xfrm>
          <a:off x="2360930" y="952500"/>
          <a:ext cx="7469505" cy="5543550"/>
        </p:xfrm>
        <a:graphic>
          <a:graphicData uri="http://schemas.openxmlformats.org/presentationml/2006/ole">
            <mc:AlternateContent xmlns:mc="http://schemas.openxmlformats.org/markup-compatibility/2006">
              <mc:Choice xmlns:v="urn:schemas-microsoft-com:vml" Requires="v">
                <p:oleObj spid="_x0000_s12" name="" r:id="rId1" imgW="6142355" imgH="4561840" progId="Visio.Drawing.15">
                  <p:embed/>
                </p:oleObj>
              </mc:Choice>
              <mc:Fallback>
                <p:oleObj name="" r:id="rId1" imgW="6142355" imgH="4561840" progId="Visio.Drawing.15">
                  <p:embed/>
                  <p:pic>
                    <p:nvPicPr>
                      <p:cNvPr id="0" name="图片 11"/>
                      <p:cNvPicPr/>
                      <p:nvPr/>
                    </p:nvPicPr>
                    <p:blipFill>
                      <a:blip r:embed="rId2"/>
                      <a:stretch>
                        <a:fillRect/>
                      </a:stretch>
                    </p:blipFill>
                    <p:spPr>
                      <a:xfrm>
                        <a:off x="2360930" y="952500"/>
                        <a:ext cx="7469505" cy="55435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605280" cy="521970"/>
          </a:xfrm>
          <a:prstGeom prst="rect">
            <a:avLst/>
          </a:prstGeom>
          <a:noFill/>
        </p:spPr>
        <p:txBody>
          <a:bodyPr wrap="none" rtlCol="0">
            <a:spAutoFit/>
          </a:bodyPr>
          <a:lstStyle/>
          <a:p>
            <a:pPr algn="l"/>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系统架构</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pic>
        <p:nvPicPr>
          <p:cNvPr id="502517069"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77720" y="1145540"/>
            <a:ext cx="8204200" cy="5349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9608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数据库设计</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9" name="文本框 18"/>
          <p:cNvSpPr txBox="1"/>
          <p:nvPr/>
        </p:nvSpPr>
        <p:spPr>
          <a:xfrm>
            <a:off x="4549140" y="5412740"/>
            <a:ext cx="6096000" cy="521970"/>
          </a:xfrm>
          <a:prstGeom prst="rect">
            <a:avLst/>
          </a:prstGeom>
          <a:noFill/>
        </p:spPr>
        <p:txBody>
          <a:bodyPr wrap="square" rtlCol="0" anchor="t">
            <a:spAutoFit/>
          </a:bodyPr>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系统整体</a:t>
            </a:r>
            <a:r>
              <a:rPr lang="en-US" altLang="zh-CN" sz="2800" dirty="0" smtClean="0">
                <a:solidFill>
                  <a:srgbClr val="314371"/>
                </a:solidFill>
                <a:latin typeface="微软雅黑" panose="020B0503020204020204" charset="-122"/>
                <a:ea typeface="微软雅黑" panose="020B0503020204020204" charset="-122"/>
                <a:sym typeface="微软雅黑" panose="020B0503020204020204" charset="-122"/>
              </a:rPr>
              <a:t>E-R</a:t>
            </a:r>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图</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graphicFrame>
        <p:nvGraphicFramePr>
          <p:cNvPr id="-2147482616" name="对象 -2147482617"/>
          <p:cNvGraphicFramePr>
            <a:graphicFrameLocks noChangeAspect="1"/>
          </p:cNvGraphicFramePr>
          <p:nvPr/>
        </p:nvGraphicFramePr>
        <p:xfrm>
          <a:off x="1870075" y="969645"/>
          <a:ext cx="8147685" cy="4443095"/>
        </p:xfrm>
        <a:graphic>
          <a:graphicData uri="http://schemas.openxmlformats.org/presentationml/2006/ole">
            <mc:AlternateContent xmlns:mc="http://schemas.openxmlformats.org/markup-compatibility/2006">
              <mc:Choice xmlns:v="urn:schemas-microsoft-com:vml" Requires="v">
                <p:oleObj spid="_x0000_s3076" name="" r:id="rId1" imgW="10366375" imgH="5655310" progId="Visio.Drawing.15">
                  <p:embed/>
                </p:oleObj>
              </mc:Choice>
              <mc:Fallback>
                <p:oleObj name="" r:id="rId1" imgW="10366375" imgH="5655310" progId="Visio.Drawing.15">
                  <p:embed/>
                  <p:pic>
                    <p:nvPicPr>
                      <p:cNvPr id="0" name="图片 3075"/>
                      <p:cNvPicPr/>
                      <p:nvPr/>
                    </p:nvPicPr>
                    <p:blipFill>
                      <a:blip r:embed="rId2"/>
                      <a:stretch>
                        <a:fillRect/>
                      </a:stretch>
                    </p:blipFill>
                    <p:spPr>
                      <a:xfrm>
                        <a:off x="1870075" y="969645"/>
                        <a:ext cx="8147685" cy="444309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流程图: 离页连接符 16"/>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4</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18" name="直接连接符 17"/>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19" name="文本框 32"/>
          <p:cNvSpPr txBox="1"/>
          <p:nvPr/>
        </p:nvSpPr>
        <p:spPr>
          <a:xfrm>
            <a:off x="4472126" y="1945742"/>
            <a:ext cx="26212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系统</a:t>
            </a:r>
            <a:r>
              <a:rPr lang="zh-CN" altLang="en-US" sz="4800" b="1" dirty="0" smtClean="0">
                <a:solidFill>
                  <a:srgbClr val="314371"/>
                </a:solidFill>
                <a:latin typeface="微软雅黑" panose="020B0503020204020204" charset="-122"/>
                <a:ea typeface="微软雅黑" panose="020B0503020204020204" charset="-122"/>
              </a:rPr>
              <a:t>展示</a:t>
            </a:r>
            <a:endParaRPr lang="zh-CN" altLang="en-US" sz="4800" b="1" dirty="0" smtClean="0">
              <a:solidFill>
                <a:srgbClr val="314371"/>
              </a:solidFill>
              <a:latin typeface="微软雅黑" panose="020B0503020204020204" charset="-122"/>
              <a:ea typeface="微软雅黑" panose="020B0503020204020204" charset="-122"/>
            </a:endParaRPr>
          </a:p>
        </p:txBody>
      </p:sp>
      <p:sp>
        <p:nvSpPr>
          <p:cNvPr id="15" name="矩形 42"/>
          <p:cNvSpPr/>
          <p:nvPr/>
        </p:nvSpPr>
        <p:spPr>
          <a:xfrm rot="16200000">
            <a:off x="3723422" y="1540798"/>
            <a:ext cx="1577720" cy="9024563"/>
          </a:xfrm>
          <a:custGeom>
            <a:avLst/>
            <a:gdLst/>
            <a:ahLst/>
            <a:cxnLst/>
            <a:rect l="l" t="t" r="r" b="b"/>
            <a:pathLst>
              <a:path w="2443221" h="4630591">
                <a:moveTo>
                  <a:pt x="0" y="0"/>
                </a:moveTo>
                <a:lnTo>
                  <a:pt x="2443221" y="0"/>
                </a:lnTo>
                <a:lnTo>
                  <a:pt x="0" y="4630591"/>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
        <p:nvSpPr>
          <p:cNvPr id="16" name="矩形 42"/>
          <p:cNvSpPr/>
          <p:nvPr/>
        </p:nvSpPr>
        <p:spPr>
          <a:xfrm rot="16200000" flipV="1">
            <a:off x="9435319" y="4101319"/>
            <a:ext cx="2345925" cy="3167437"/>
          </a:xfrm>
          <a:custGeom>
            <a:avLst/>
            <a:gdLst/>
            <a:ahLst/>
            <a:cxnLst/>
            <a:rect l="l" t="t" r="r" b="b"/>
            <a:pathLst>
              <a:path w="2443221" h="4630591">
                <a:moveTo>
                  <a:pt x="0" y="0"/>
                </a:moveTo>
                <a:lnTo>
                  <a:pt x="2443221" y="0"/>
                </a:lnTo>
                <a:lnTo>
                  <a:pt x="0" y="4630591"/>
                </a:lnTo>
                <a:close/>
              </a:path>
            </a:pathLst>
          </a:cu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lIns="117226" tIns="58613" rIns="117226" bIns="58613"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7"/>
          <p:cNvPicPr>
            <a:picLocks noChangeAspect="1"/>
          </p:cNvPicPr>
          <p:nvPr/>
        </p:nvPicPr>
        <p:blipFill>
          <a:blip r:embed="rId1"/>
          <a:stretch>
            <a:fillRect/>
          </a:stretch>
        </p:blipFill>
        <p:spPr>
          <a:xfrm>
            <a:off x="734695" y="803910"/>
            <a:ext cx="10760075" cy="526859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9"/>
          <p:cNvPicPr>
            <a:picLocks noChangeAspect="1"/>
          </p:cNvPicPr>
          <p:nvPr/>
        </p:nvPicPr>
        <p:blipFill>
          <a:blip r:embed="rId1"/>
          <a:stretch>
            <a:fillRect/>
          </a:stretch>
        </p:blipFill>
        <p:spPr>
          <a:xfrm>
            <a:off x="26035" y="457200"/>
            <a:ext cx="12074525" cy="591248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0"/>
          <p:cNvPicPr>
            <a:picLocks noChangeAspect="1"/>
          </p:cNvPicPr>
          <p:nvPr/>
        </p:nvPicPr>
        <p:blipFill>
          <a:blip r:embed="rId1"/>
          <a:stretch>
            <a:fillRect/>
          </a:stretch>
        </p:blipFill>
        <p:spPr>
          <a:xfrm>
            <a:off x="93980" y="449580"/>
            <a:ext cx="12087225" cy="600011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流程图: 离页连接符 14"/>
          <p:cNvSpPr/>
          <p:nvPr/>
        </p:nvSpPr>
        <p:spPr>
          <a:xfrm>
            <a:off x="2079666" y="1931648"/>
            <a:ext cx="1692234" cy="1773054"/>
          </a:xfrm>
          <a:prstGeom prst="flowChartOffpageConnector">
            <a:avLst/>
          </a:prstGeom>
          <a:solidFill>
            <a:srgbClr val="31437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r>
              <a:rPr kumimoji="0" lang="en-US" altLang="zh-CN"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rPr>
              <a:t>5</a:t>
            </a:r>
            <a:endParaRPr kumimoji="0" lang="zh-CN" altLang="en-US" sz="9600" b="1" i="0" u="none" strike="noStrike" kern="0" cap="none" spc="0" normalizeH="0" baseline="0" noProof="0" dirty="0" smtClean="0">
              <a:ln>
                <a:noFill/>
              </a:ln>
              <a:solidFill>
                <a:prstClr val="white"/>
              </a:solidFill>
              <a:effectLst/>
              <a:uLnTx/>
              <a:uFillTx/>
              <a:latin typeface="Arial" panose="020B0604020202020204"/>
              <a:ea typeface="微软雅黑" panose="020B0503020204020204" charset="-122"/>
              <a:cs typeface="+mn-cs"/>
            </a:endParaRPr>
          </a:p>
        </p:txBody>
      </p:sp>
      <p:cxnSp>
        <p:nvCxnSpPr>
          <p:cNvPr id="16" name="直接连接符 15"/>
          <p:cNvCxnSpPr/>
          <p:nvPr/>
        </p:nvCxnSpPr>
        <p:spPr>
          <a:xfrm>
            <a:off x="3975100" y="2781587"/>
            <a:ext cx="5753100" cy="0"/>
          </a:xfrm>
          <a:prstGeom prst="line">
            <a:avLst/>
          </a:prstGeom>
          <a:noFill/>
          <a:ln w="12700" cap="flat" cmpd="sng" algn="ctr">
            <a:solidFill>
              <a:srgbClr val="314371"/>
            </a:solidFill>
            <a:prstDash val="solid"/>
            <a:miter lim="800000"/>
          </a:ln>
          <a:effectLst/>
        </p:spPr>
      </p:cxnSp>
      <p:sp>
        <p:nvSpPr>
          <p:cNvPr id="30" name="文本框 32"/>
          <p:cNvSpPr txBox="1"/>
          <p:nvPr/>
        </p:nvSpPr>
        <p:spPr>
          <a:xfrm>
            <a:off x="4472126" y="1945742"/>
            <a:ext cx="3230880" cy="829945"/>
          </a:xfrm>
          <a:prstGeom prst="rect">
            <a:avLst/>
          </a:prstGeom>
          <a:noFill/>
        </p:spPr>
        <p:txBody>
          <a:bodyPr wrap="none" rtlCol="0">
            <a:spAutoFit/>
          </a:bodyPr>
          <a:lstStyle/>
          <a:p>
            <a:r>
              <a:rPr lang="zh-CN" altLang="en-US" sz="4800" b="1" dirty="0" smtClean="0">
                <a:solidFill>
                  <a:srgbClr val="314371"/>
                </a:solidFill>
                <a:latin typeface="微软雅黑" panose="020B0503020204020204" charset="-122"/>
                <a:ea typeface="微软雅黑" panose="020B0503020204020204" charset="-122"/>
              </a:rPr>
              <a:t>总结与</a:t>
            </a:r>
            <a:r>
              <a:rPr lang="zh-CN" altLang="en-US" sz="4800" b="1" dirty="0" smtClean="0">
                <a:solidFill>
                  <a:srgbClr val="314371"/>
                </a:solidFill>
                <a:latin typeface="微软雅黑" panose="020B0503020204020204" charset="-122"/>
                <a:ea typeface="微软雅黑" panose="020B0503020204020204" charset="-122"/>
              </a:rPr>
              <a:t>致谢</a:t>
            </a:r>
            <a:endParaRPr lang="zh-CN" altLang="en-US" sz="4800" b="1" dirty="0" smtClean="0">
              <a:solidFill>
                <a:srgbClr val="31437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19608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总结与</a:t>
            </a:r>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致谢</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2" name="文本框 11"/>
          <p:cNvSpPr txBox="1"/>
          <p:nvPr/>
        </p:nvSpPr>
        <p:spPr>
          <a:xfrm>
            <a:off x="164465" y="1053465"/>
            <a:ext cx="11767820" cy="12465685"/>
          </a:xfrm>
          <a:prstGeom prst="rect">
            <a:avLst/>
          </a:prstGeom>
          <a:noFill/>
        </p:spPr>
        <p:txBody>
          <a:bodyPr wrap="square" rtlCol="0">
            <a:noAutofit/>
          </a:bodyPr>
          <a:p>
            <a:r>
              <a:rPr lang="zh-CN" altLang="en-US"/>
              <a:t>在本研究中，我设计并实现了一种智慧农业专家远程指导系统，旨在解决传统系统存在的农户体验差、扩展性差和性能不佳等问题。通过对系统功能和性能的详细分析和设计，我成功实现了一个功能强大、性能稳定的智慧农业专家远程指导系统。我通过对传统系统存在问题的分析，确定了系统的需求和设计方案。在系统设计中，我注重农户体验，设计了简洁友好的农户界面，提高了系统的易用性。同时，我采用了SpringBoot框架，简化了系统的开发流程，提高了系统的可维护性和可扩展性。我在系统实现阶段，按照设计方案，使用SpringBoot框架进行系统的具体实现。通过优化代码和系统架构，我提高了系统的性能和稳定性，保证系统能够稳定运行并具有较好的响应速度。在系统测试阶段，我对系统进行了全面测试，包括功能测试、性能测试和农户体验测试等。测试结果表明，我设计和实现的智慧农业专家远程指导系统在功能和性能方面表现出色，能够满足实际应用的需求。</a:t>
            </a:r>
            <a:endParaRPr lang="zh-CN" altLang="en-US"/>
          </a:p>
          <a:p>
            <a:r>
              <a:rPr lang="zh-CN" altLang="en-US"/>
              <a:t>总的来说，本研究设计和实现的智慧农业专家远程指导系统，在解决传统系统存在问题的同时，提高了系统的功能和性能，为智慧农业的发展提供了一种有效的解决方案。通过本研究的实践，我对智慧农业领域的研究和实践做出了一定的贡献，为智慧农业的发展提供了有益的参考。</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2"/>
          <p:cNvSpPr/>
          <p:nvPr/>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ysClr val="window" lastClr="FFFFFF">
              <a:lumMod val="85000"/>
            </a:sys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流程图: 离页连接符 2"/>
          <p:cNvSpPr/>
          <p:nvPr/>
        </p:nvSpPr>
        <p:spPr>
          <a:xfrm rot="10800000">
            <a:off x="10445750" y="569345"/>
            <a:ext cx="876300" cy="384342"/>
          </a:xfrm>
          <a:prstGeom prst="flowChartOffpageConnector">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white"/>
              </a:solidFill>
              <a:effectLst/>
              <a:uLnTx/>
              <a:uFillTx/>
              <a:latin typeface="Arial" panose="020B0604020202020204"/>
              <a:ea typeface="微软雅黑" panose="020B0503020204020204" charset="-122"/>
              <a:cs typeface="+mn-cs"/>
            </a:endParaRPr>
          </a:p>
        </p:txBody>
      </p:sp>
      <p:sp>
        <p:nvSpPr>
          <p:cNvPr id="4" name="矩形 3"/>
          <p:cNvSpPr/>
          <p:nvPr/>
        </p:nvSpPr>
        <p:spPr>
          <a:xfrm>
            <a:off x="10501767" y="658245"/>
            <a:ext cx="820283" cy="276999"/>
          </a:xfrm>
          <a:prstGeom prst="rect">
            <a:avLst/>
          </a:prstGeom>
        </p:spPr>
        <p:txBody>
          <a:bodyPr lIns="68580" tIns="34290" rIns="68580" bIns="34290"/>
          <a:lstStyle/>
          <a:p>
            <a:pPr algn="ctr">
              <a:defRPr/>
            </a:pPr>
            <a:r>
              <a:rPr lang="zh-CN" altLang="en-US" sz="1200" dirty="0">
                <a:solidFill>
                  <a:srgbClr val="314371"/>
                </a:solidFill>
                <a:latin typeface="微软雅黑" panose="020B0503020204020204" charset="-122"/>
                <a:ea typeface="微软雅黑" panose="020B0503020204020204" charset="-122"/>
              </a:rPr>
              <a:t>第 </a:t>
            </a:r>
            <a:fld id="{2EEF1883-7A0E-4F66-9932-E581691AD397}" type="slidenum">
              <a:rPr lang="zh-CN" altLang="en-US" sz="1200" dirty="0">
                <a:solidFill>
                  <a:srgbClr val="314371"/>
                </a:solidFill>
                <a:latin typeface="Arial" panose="020B0604020202020204"/>
                <a:ea typeface="微软雅黑" panose="020B0503020204020204" charset="-122"/>
              </a:rPr>
            </a:fld>
            <a:r>
              <a:rPr lang="zh-CN" altLang="en-US" sz="1200" dirty="0">
                <a:solidFill>
                  <a:srgbClr val="314371"/>
                </a:solidFill>
                <a:latin typeface="Arial" panose="020B0604020202020204"/>
                <a:ea typeface="微软雅黑" panose="020B0503020204020204" charset="-122"/>
              </a:rPr>
              <a:t>  </a:t>
            </a:r>
            <a:r>
              <a:rPr lang="zh-CN" altLang="en-US" sz="1200" dirty="0">
                <a:solidFill>
                  <a:srgbClr val="314371"/>
                </a:solidFill>
                <a:latin typeface="微软雅黑" panose="020B0503020204020204" charset="-122"/>
                <a:ea typeface="微软雅黑" panose="020B0503020204020204" charset="-122"/>
              </a:rPr>
              <a:t>页</a:t>
            </a:r>
            <a:endParaRPr lang="zh-CN" altLang="en-US" sz="1200" dirty="0">
              <a:solidFill>
                <a:srgbClr val="314371"/>
              </a:solidFill>
              <a:latin typeface="微软雅黑" panose="020B0503020204020204" charset="-122"/>
              <a:ea typeface="微软雅黑" panose="020B0503020204020204" charset="-122"/>
            </a:endParaRPr>
          </a:p>
        </p:txBody>
      </p:sp>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0" name="文本框 38"/>
          <p:cNvSpPr txBox="1"/>
          <p:nvPr/>
        </p:nvSpPr>
        <p:spPr>
          <a:xfrm>
            <a:off x="1264217" y="351896"/>
            <a:ext cx="894080" cy="521970"/>
          </a:xfrm>
          <a:prstGeom prst="rect">
            <a:avLst/>
          </a:prstGeom>
          <a:noFill/>
        </p:spPr>
        <p:txBody>
          <a:bodyPr wrap="none" rtlCol="0">
            <a:spAutoFit/>
          </a:bodyPr>
          <a:lstStyle/>
          <a:p>
            <a:r>
              <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rPr>
              <a:t>最后</a:t>
            </a:r>
            <a:endParaRPr lang="zh-CN" altLang="en-US" sz="2800" dirty="0" smtClean="0">
              <a:solidFill>
                <a:srgbClr val="314371"/>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nvSpPr>
        <p:spPr>
          <a:xfrm>
            <a:off x="1790700" y="3868420"/>
            <a:ext cx="8869680" cy="1706880"/>
          </a:xfrm>
          <a:prstGeom prst="rect">
            <a:avLst/>
          </a:prstGeom>
        </p:spPr>
        <p:txBody>
          <a:bodyPr wrap="square">
            <a:spAutoFit/>
          </a:bodyPr>
          <a:lstStyle/>
          <a:p>
            <a:pPr algn="ctr">
              <a:lnSpc>
                <a:spcPct val="150000"/>
              </a:lnSpc>
            </a:pPr>
            <a:r>
              <a:rPr lang="zh-CN" altLang="en-US" sz="2800" dirty="0" smtClean="0">
                <a:solidFill>
                  <a:srgbClr val="314371"/>
                </a:solidFill>
                <a:latin typeface="微软雅黑" panose="020B0503020204020204" charset="-122"/>
                <a:ea typeface="微软雅黑" panose="020B0503020204020204" charset="-122"/>
              </a:rPr>
              <a:t>为我最热爱的母校增添荣耀，让母校更加灿烂夺目</a:t>
            </a:r>
            <a:endParaRPr lang="zh-CN" altLang="en-US" sz="2800" dirty="0" smtClean="0">
              <a:solidFill>
                <a:srgbClr val="314371"/>
              </a:solidFill>
              <a:latin typeface="微软雅黑" panose="020B0503020204020204" charset="-122"/>
              <a:ea typeface="微软雅黑" panose="020B0503020204020204" charset="-122"/>
            </a:endParaRPr>
          </a:p>
          <a:p>
            <a:pPr algn="ctr">
              <a:lnSpc>
                <a:spcPct val="150000"/>
              </a:lnSpc>
            </a:pPr>
            <a:r>
              <a:rPr lang="zh-CN" altLang="en-US" sz="2800" dirty="0" smtClean="0">
                <a:solidFill>
                  <a:srgbClr val="314371"/>
                </a:solidFill>
                <a:latin typeface="微软雅黑" panose="020B0503020204020204" charset="-122"/>
                <a:ea typeface="微软雅黑" panose="020B0503020204020204" charset="-122"/>
              </a:rPr>
              <a:t>同时使我重拌自己的新篇章。</a:t>
            </a:r>
            <a:r>
              <a:rPr lang="zh-CN" altLang="en-US" sz="1400" dirty="0">
                <a:solidFill>
                  <a:prstClr val="black">
                    <a:lumMod val="75000"/>
                    <a:lumOff val="25000"/>
                  </a:prstClr>
                </a:solidFill>
                <a:latin typeface="微软雅黑" panose="020B0503020204020204" charset="-122"/>
                <a:ea typeface="微软雅黑" panose="020B0503020204020204" charset="-122"/>
              </a:rPr>
              <a:t> </a:t>
            </a:r>
            <a:endParaRPr lang="zh-CN" altLang="en-US" sz="1400" dirty="0">
              <a:solidFill>
                <a:prstClr val="black">
                  <a:lumMod val="75000"/>
                  <a:lumOff val="25000"/>
                </a:prstClr>
              </a:solidFill>
              <a:latin typeface="微软雅黑" panose="020B0503020204020204" charset="-122"/>
              <a:ea typeface="微软雅黑" panose="020B0503020204020204" charset="-122"/>
            </a:endParaRPr>
          </a:p>
          <a:p>
            <a:pPr>
              <a:lnSpc>
                <a:spcPct val="150000"/>
              </a:lnSpc>
            </a:pPr>
            <a:endParaRPr lang="zh-CN" altLang="en-US" sz="1400" dirty="0">
              <a:solidFill>
                <a:prstClr val="black">
                  <a:lumMod val="75000"/>
                  <a:lumOff val="25000"/>
                </a:prst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952500"/>
            <a:ext cx="12192000" cy="0"/>
          </a:xfrm>
          <a:prstGeom prst="line">
            <a:avLst/>
          </a:prstGeom>
          <a:noFill/>
          <a:ln w="12700" cap="flat" cmpd="sng" algn="ctr">
            <a:solidFill>
              <a:srgbClr val="314371"/>
            </a:solidFill>
            <a:prstDash val="solid"/>
            <a:miter lim="800000"/>
          </a:ln>
          <a:effectLst/>
        </p:spPr>
      </p:cxnSp>
      <p:grpSp>
        <p:nvGrpSpPr>
          <p:cNvPr id="6" name="组合 5"/>
          <p:cNvGrpSpPr/>
          <p:nvPr/>
        </p:nvGrpSpPr>
        <p:grpSpPr>
          <a:xfrm>
            <a:off x="607853" y="286420"/>
            <a:ext cx="392005" cy="582206"/>
            <a:chOff x="2437632" y="1965988"/>
            <a:chExt cx="1529173" cy="2271132"/>
          </a:xfrm>
          <a:solidFill>
            <a:srgbClr val="31437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latin typeface="微软雅黑" panose="020B0503020204020204" charset="-122"/>
                <a:ea typeface="微软雅黑" panose="020B0503020204020204" charset="-122"/>
              </a:endParaRPr>
            </a:p>
          </p:txBody>
        </p:sp>
      </p:grpSp>
      <p:sp>
        <p:nvSpPr>
          <p:cNvPr id="11" name="文本框 10"/>
          <p:cNvSpPr txBox="1"/>
          <p:nvPr/>
        </p:nvSpPr>
        <p:spPr>
          <a:xfrm>
            <a:off x="2526665" y="3296920"/>
            <a:ext cx="7397750" cy="1014730"/>
          </a:xfrm>
          <a:prstGeom prst="rect">
            <a:avLst/>
          </a:prstGeom>
          <a:noFill/>
        </p:spPr>
        <p:txBody>
          <a:bodyPr wrap="square" rtlCol="0" anchor="t">
            <a:spAutoFit/>
          </a:bodyPr>
          <a:p>
            <a:pPr>
              <a:lnSpc>
                <a:spcPct val="150000"/>
              </a:lnSpc>
            </a:pPr>
            <a:r>
              <a:rPr lang="zh-CN" altLang="en-US" sz="4000" dirty="0" smtClean="0">
                <a:solidFill>
                  <a:srgbClr val="314371"/>
                </a:solidFill>
                <a:latin typeface="微软雅黑" panose="020B0503020204020204" charset="-122"/>
                <a:ea typeface="微软雅黑" panose="020B0503020204020204" charset="-122"/>
                <a:sym typeface="+mn-ea"/>
              </a:rPr>
              <a:t>最后</a:t>
            </a:r>
            <a:r>
              <a:rPr lang="zh-CN" altLang="en-US" sz="4000" dirty="0" smtClean="0">
                <a:solidFill>
                  <a:srgbClr val="314371"/>
                </a:solidFill>
                <a:latin typeface="微软雅黑" panose="020B0503020204020204" charset="-122"/>
                <a:ea typeface="微软雅黑" panose="020B0503020204020204" charset="-122"/>
                <a:sym typeface="+mn-ea"/>
              </a:rPr>
              <a:t>感谢各位老师聆听及指导</a:t>
            </a:r>
            <a:endParaRPr lang="zh-CN" altLang="en-US" sz="4000" dirty="0" smtClean="0">
              <a:solidFill>
                <a:srgbClr val="31437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3_1"/>
  <p:tag name="KSO_WM_UNIT_ID" val="diagram71_2*n_h_h_f*1_1_3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3.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2_1"/>
  <p:tag name="KSO_WM_UNIT_ID" val="diagram71_2*n_h_h_f*1_1_2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4.xml><?xml version="1.0" encoding="utf-8"?>
<p:tagLst xmlns:p="http://schemas.openxmlformats.org/presentationml/2006/main">
  <p:tag name="KSO_WM_UNIT_SUBTYPE" val="a"/>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h_f"/>
  <p:tag name="KSO_WM_UNIT_INDEX" val="1_1_3_1"/>
  <p:tag name="KSO_WM_UNIT_ID" val="diagram71_2*n_h_h_f*1_1_3_1"/>
  <p:tag name="KSO_WM_TEMPLATE_CATEGORY" val="diagram"/>
  <p:tag name="KSO_WM_TEMPLATE_INDEX" val="71"/>
  <p:tag name="KSO_WM_UNIT_LAYERLEVEL" val="1_1_1_1"/>
  <p:tag name="KSO_WM_TAG_VERSION" val="1.0"/>
  <p:tag name="KSO_WM_BEAUTIFY_FLAG" val=""/>
  <p:tag name="KSO_WM_UNIT_PRESET_TEXT" val="添加标题"/>
  <p:tag name="KSO_WM_UNIT_TEXT_FILL_FORE_SCHEMECOLOR_INDEX" val="14"/>
  <p:tag name="KSO_WM_UNIT_TEXT_FILL_TYPE" val="1"/>
</p:tagLst>
</file>

<file path=ppt/tags/tag5.xml><?xml version="1.0" encoding="utf-8"?>
<p:tagLst xmlns:p="http://schemas.openxmlformats.org/presentationml/2006/main">
  <p:tag name="KSO_WPP_MARK_KEY" val="4db3e072-ef8d-4491-8fc9-54d5eeec48dd"/>
  <p:tag name="COMMONDATA" val="eyJoZGlkIjoiZWIyMjdkZjA4ZTk0ODMxZTg4NTIyNTJiNTRiMTQ1ZGQifQ=="/>
  <p:tag name="commondata" val="eyJoZGlkIjoiYWFkZDkyYzBlZGRmYWIwOWEyZmVkMGZjMDU5MTU3Nj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2277</Words>
  <Application>WPS 演示</Application>
  <PresentationFormat>自定义</PresentationFormat>
  <Paragraphs>151</Paragraphs>
  <Slides>21</Slides>
  <Notes>32</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6" baseType="lpstr">
      <vt:lpstr>Arial</vt:lpstr>
      <vt:lpstr>宋体</vt:lpstr>
      <vt:lpstr>Wingdings</vt:lpstr>
      <vt:lpstr>微软雅黑</vt:lpstr>
      <vt:lpstr>Arial</vt:lpstr>
      <vt:lpstr>Bebas Neue</vt:lpstr>
      <vt:lpstr>Segoe Print</vt:lpstr>
      <vt:lpstr>Calibri</vt:lpstr>
      <vt:lpstr>Times New Roman</vt:lpstr>
      <vt:lpstr>微软雅黑 Light</vt:lpstr>
      <vt:lpstr>Arial Unicode MS</vt:lpstr>
      <vt:lpstr>Calibri Light</vt:lpstr>
      <vt:lpstr>Office 主题</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kidow</cp:lastModifiedBy>
  <cp:revision>52</cp:revision>
  <dcterms:created xsi:type="dcterms:W3CDTF">2015-05-05T08:02:00Z</dcterms:created>
  <dcterms:modified xsi:type="dcterms:W3CDTF">2024-05-14T16:02:54Z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45065AF3FC5F4CECB27B7440F8FB73E0_12</vt:lpwstr>
  </property>
</Properties>
</file>